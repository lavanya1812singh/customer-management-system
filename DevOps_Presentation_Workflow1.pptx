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5" r:id="rId10"/>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72" y="3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VANYA SINGH" userId="be9e0eaacd5033b1" providerId="LiveId" clId="{62630598-FDE9-4C65-90BC-B57ADF02C1F8}"/>
    <pc:docChg chg="custSel delSld modSld">
      <pc:chgData name="LAVANYA SINGH" userId="be9e0eaacd5033b1" providerId="LiveId" clId="{62630598-FDE9-4C65-90BC-B57ADF02C1F8}" dt="2026-04-09T07:19:50.130" v="7" actId="2696"/>
      <pc:docMkLst>
        <pc:docMk/>
      </pc:docMkLst>
      <pc:sldChg chg="del">
        <pc:chgData name="LAVANYA SINGH" userId="be9e0eaacd5033b1" providerId="LiveId" clId="{62630598-FDE9-4C65-90BC-B57ADF02C1F8}" dt="2026-04-09T07:19:50.130" v="7" actId="2696"/>
        <pc:sldMkLst>
          <pc:docMk/>
          <pc:sldMk cId="0" sldId="264"/>
        </pc:sldMkLst>
      </pc:sldChg>
      <pc:sldChg chg="delSp modSp mod">
        <pc:chgData name="LAVANYA SINGH" userId="be9e0eaacd5033b1" providerId="LiveId" clId="{62630598-FDE9-4C65-90BC-B57ADF02C1F8}" dt="2026-04-09T07:19:42.040" v="6" actId="478"/>
        <pc:sldMkLst>
          <pc:docMk/>
          <pc:sldMk cId="0" sldId="265"/>
        </pc:sldMkLst>
        <pc:spChg chg="del">
          <ac:chgData name="LAVANYA SINGH" userId="be9e0eaacd5033b1" providerId="LiveId" clId="{62630598-FDE9-4C65-90BC-B57ADF02C1F8}" dt="2026-04-09T07:19:25.859" v="0" actId="478"/>
          <ac:spMkLst>
            <pc:docMk/>
            <pc:sldMk cId="0" sldId="265"/>
            <ac:spMk id="521" creationId="{00000000-0000-0000-0000-000000000000}"/>
          </ac:spMkLst>
        </pc:spChg>
        <pc:spChg chg="del">
          <ac:chgData name="LAVANYA SINGH" userId="be9e0eaacd5033b1" providerId="LiveId" clId="{62630598-FDE9-4C65-90BC-B57ADF02C1F8}" dt="2026-04-09T07:19:30.548" v="2" actId="478"/>
          <ac:spMkLst>
            <pc:docMk/>
            <pc:sldMk cId="0" sldId="265"/>
            <ac:spMk id="522" creationId="{00000000-0000-0000-0000-000000000000}"/>
          </ac:spMkLst>
        </pc:spChg>
        <pc:spChg chg="del mod">
          <ac:chgData name="LAVANYA SINGH" userId="be9e0eaacd5033b1" providerId="LiveId" clId="{62630598-FDE9-4C65-90BC-B57ADF02C1F8}" dt="2026-04-09T07:19:35.408" v="4" actId="478"/>
          <ac:spMkLst>
            <pc:docMk/>
            <pc:sldMk cId="0" sldId="265"/>
            <ac:spMk id="524" creationId="{00000000-0000-0000-0000-000000000000}"/>
          </ac:spMkLst>
        </pc:spChg>
        <pc:spChg chg="del">
          <ac:chgData name="LAVANYA SINGH" userId="be9e0eaacd5033b1" providerId="LiveId" clId="{62630598-FDE9-4C65-90BC-B57ADF02C1F8}" dt="2026-04-09T07:19:28.278" v="1" actId="478"/>
          <ac:spMkLst>
            <pc:docMk/>
            <pc:sldMk cId="0" sldId="265"/>
            <ac:spMk id="525" creationId="{00000000-0000-0000-0000-000000000000}"/>
          </ac:spMkLst>
        </pc:spChg>
        <pc:spChg chg="del mod">
          <ac:chgData name="LAVANYA SINGH" userId="be9e0eaacd5033b1" providerId="LiveId" clId="{62630598-FDE9-4C65-90BC-B57ADF02C1F8}" dt="2026-04-09T07:19:42.040" v="6" actId="478"/>
          <ac:spMkLst>
            <pc:docMk/>
            <pc:sldMk cId="0" sldId="265"/>
            <ac:spMk id="52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3" name="Body Level One…"/>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4B"/>
        </a:solidFill>
        <a:effectLst/>
      </p:bgPr>
    </p:bg>
    <p:spTree>
      <p:nvGrpSpPr>
        <p:cNvPr id="1" name=""/>
        <p:cNvGrpSpPr/>
        <p:nvPr/>
      </p:nvGrpSpPr>
      <p:grpSpPr>
        <a:xfrm>
          <a:off x="0" y="0"/>
          <a:ext cx="0" cy="0"/>
          <a:chOff x="0" y="0"/>
          <a:chExt cx="0" cy="0"/>
        </a:xfrm>
      </p:grpSpPr>
      <p:sp>
        <p:nvSpPr>
          <p:cNvPr id="20" name="Shape 0"/>
          <p:cNvSpPr/>
          <p:nvPr/>
        </p:nvSpPr>
        <p:spPr>
          <a:xfrm>
            <a:off x="0" y="-1"/>
            <a:ext cx="9144000" cy="91442"/>
          </a:xfrm>
          <a:prstGeom prst="rect">
            <a:avLst/>
          </a:prstGeom>
          <a:solidFill>
            <a:srgbClr val="4FC3F7"/>
          </a:solidFill>
          <a:ln w="12700">
            <a:solidFill>
              <a:srgbClr val="4FC3F7"/>
            </a:solidFill>
          </a:ln>
        </p:spPr>
        <p:txBody>
          <a:bodyPr lIns="45719" rIns="45719"/>
          <a:lstStyle/>
          <a:p>
            <a:endParaRPr/>
          </a:p>
        </p:txBody>
      </p:sp>
      <p:sp>
        <p:nvSpPr>
          <p:cNvPr id="21" name="Shape 1"/>
          <p:cNvSpPr/>
          <p:nvPr/>
        </p:nvSpPr>
        <p:spPr>
          <a:xfrm>
            <a:off x="-1" y="91439"/>
            <a:ext cx="3566161" cy="5052062"/>
          </a:xfrm>
          <a:prstGeom prst="rect">
            <a:avLst/>
          </a:prstGeom>
          <a:solidFill>
            <a:srgbClr val="1E2761"/>
          </a:solidFill>
          <a:ln w="12700">
            <a:solidFill>
              <a:srgbClr val="1E2761"/>
            </a:solidFill>
          </a:ln>
        </p:spPr>
        <p:txBody>
          <a:bodyPr lIns="45719" rIns="45719"/>
          <a:lstStyle/>
          <a:p>
            <a:endParaRPr/>
          </a:p>
        </p:txBody>
      </p:sp>
      <p:sp>
        <p:nvSpPr>
          <p:cNvPr id="22" name="Text 2"/>
          <p:cNvSpPr txBox="1"/>
          <p:nvPr/>
        </p:nvSpPr>
        <p:spPr>
          <a:xfrm>
            <a:off x="274319" y="447129"/>
            <a:ext cx="3017522" cy="2487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000" b="1">
                <a:solidFill>
                  <a:srgbClr val="4FC3F7"/>
                </a:solidFill>
              </a:defRPr>
            </a:lvl1pPr>
          </a:lstStyle>
          <a:p>
            <a:r>
              <a:t>VIT Vellore</a:t>
            </a:r>
          </a:p>
        </p:txBody>
      </p:sp>
      <p:sp>
        <p:nvSpPr>
          <p:cNvPr id="23" name="Text 3"/>
          <p:cNvSpPr txBox="1"/>
          <p:nvPr/>
        </p:nvSpPr>
        <p:spPr>
          <a:xfrm>
            <a:off x="274319" y="929044"/>
            <a:ext cx="3017522" cy="2541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900">
                <a:solidFill>
                  <a:srgbClr val="CADCFC"/>
                </a:solidFill>
              </a:defRPr>
            </a:pPr>
            <a:r>
              <a:t>School of Computer Science</a:t>
            </a:r>
          </a:p>
          <a:p>
            <a:pPr>
              <a:defRPr sz="900">
                <a:solidFill>
                  <a:srgbClr val="CADCFC"/>
                </a:solidFill>
              </a:defRPr>
            </a:pPr>
            <a:r>
              <a:t>and Engineering (SCOPE)</a:t>
            </a:r>
          </a:p>
        </p:txBody>
      </p:sp>
      <p:sp>
        <p:nvSpPr>
          <p:cNvPr id="24" name="Text 4"/>
          <p:cNvSpPr txBox="1"/>
          <p:nvPr/>
        </p:nvSpPr>
        <p:spPr>
          <a:xfrm>
            <a:off x="274319" y="1463969"/>
            <a:ext cx="3017522" cy="2541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900" i="1">
                <a:solidFill>
                  <a:srgbClr val="94A3B8"/>
                </a:solidFill>
              </a:defRPr>
            </a:pPr>
            <a:r>
              <a:t>MACSE639 – DevOps</a:t>
            </a:r>
          </a:p>
          <a:p>
            <a:pPr>
              <a:defRPr sz="900" i="1">
                <a:solidFill>
                  <a:srgbClr val="94A3B8"/>
                </a:solidFill>
              </a:defRPr>
            </a:pPr>
            <a:r>
              <a:t>Winter Semester 2025–26</a:t>
            </a:r>
          </a:p>
        </p:txBody>
      </p:sp>
      <p:sp>
        <p:nvSpPr>
          <p:cNvPr id="25" name="Shape 5"/>
          <p:cNvSpPr/>
          <p:nvPr/>
        </p:nvSpPr>
        <p:spPr>
          <a:xfrm>
            <a:off x="274319" y="1920239"/>
            <a:ext cx="3017522" cy="1"/>
          </a:xfrm>
          <a:prstGeom prst="line">
            <a:avLst/>
          </a:prstGeom>
          <a:ln w="10160">
            <a:solidFill>
              <a:srgbClr val="4FC3F7"/>
            </a:solidFill>
          </a:ln>
        </p:spPr>
        <p:txBody>
          <a:bodyPr lIns="45719" rIns="45719"/>
          <a:lstStyle/>
          <a:p>
            <a:endParaRPr/>
          </a:p>
        </p:txBody>
      </p:sp>
      <p:sp>
        <p:nvSpPr>
          <p:cNvPr id="26" name="Text 6"/>
          <p:cNvSpPr txBox="1"/>
          <p:nvPr/>
        </p:nvSpPr>
        <p:spPr>
          <a:xfrm>
            <a:off x="274319" y="2127426"/>
            <a:ext cx="3017522"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a:solidFill>
                  <a:srgbClr val="FFFFFF"/>
                </a:solidFill>
              </a:defRPr>
            </a:lvl1pPr>
          </a:lstStyle>
          <a:p>
            <a:r>
              <a:t>Team — Group 10</a:t>
            </a:r>
          </a:p>
        </p:txBody>
      </p:sp>
      <p:sp>
        <p:nvSpPr>
          <p:cNvPr id="27" name="Text 7"/>
          <p:cNvSpPr txBox="1"/>
          <p:nvPr/>
        </p:nvSpPr>
        <p:spPr>
          <a:xfrm>
            <a:off x="274319" y="2460243"/>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Aryalekshmi S        25MCS0059</a:t>
            </a:r>
          </a:p>
        </p:txBody>
      </p:sp>
      <p:sp>
        <p:nvSpPr>
          <p:cNvPr id="28" name="Text 8"/>
          <p:cNvSpPr txBox="1"/>
          <p:nvPr/>
        </p:nvSpPr>
        <p:spPr>
          <a:xfrm>
            <a:off x="274319" y="2761995"/>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Lavanya Singh         25MCS0079</a:t>
            </a:r>
          </a:p>
        </p:txBody>
      </p:sp>
      <p:sp>
        <p:nvSpPr>
          <p:cNvPr id="29" name="Text 9"/>
          <p:cNvSpPr txBox="1"/>
          <p:nvPr/>
        </p:nvSpPr>
        <p:spPr>
          <a:xfrm>
            <a:off x="274319" y="306374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Edamalapati Saranya  25MCS0096</a:t>
            </a:r>
          </a:p>
        </p:txBody>
      </p:sp>
      <p:sp>
        <p:nvSpPr>
          <p:cNvPr id="30" name="Text 10"/>
          <p:cNvSpPr txBox="1"/>
          <p:nvPr/>
        </p:nvSpPr>
        <p:spPr>
          <a:xfrm>
            <a:off x="274319" y="4216313"/>
            <a:ext cx="3017522" cy="2541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900">
                <a:solidFill>
                  <a:srgbClr val="94A3B8"/>
                </a:solidFill>
              </a:defRPr>
            </a:pPr>
            <a:r>
              <a:t>Faculty: SUDHAKAR. P B</a:t>
            </a:r>
          </a:p>
          <a:p>
            <a:pPr>
              <a:defRPr sz="900">
                <a:solidFill>
                  <a:srgbClr val="94A3B8"/>
                </a:solidFill>
              </a:defRPr>
            </a:pPr>
            <a:r>
              <a:t> Set: B</a:t>
            </a:r>
          </a:p>
        </p:txBody>
      </p:sp>
      <p:sp>
        <p:nvSpPr>
          <p:cNvPr id="31" name="Text 11"/>
          <p:cNvSpPr txBox="1"/>
          <p:nvPr/>
        </p:nvSpPr>
        <p:spPr>
          <a:xfrm>
            <a:off x="3840479" y="659353"/>
            <a:ext cx="5120641" cy="647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5000" b="1">
                <a:solidFill>
                  <a:srgbClr val="FFFFFF"/>
                </a:solidFill>
              </a:defRPr>
            </a:lvl1pPr>
          </a:lstStyle>
          <a:p>
            <a:r>
              <a:t>Customer</a:t>
            </a:r>
          </a:p>
        </p:txBody>
      </p:sp>
      <p:sp>
        <p:nvSpPr>
          <p:cNvPr id="32" name="Text 12"/>
          <p:cNvSpPr txBox="1"/>
          <p:nvPr/>
        </p:nvSpPr>
        <p:spPr>
          <a:xfrm>
            <a:off x="3840479" y="1317721"/>
            <a:ext cx="5120641" cy="647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5000" b="1">
                <a:solidFill>
                  <a:srgbClr val="4FC3F7"/>
                </a:solidFill>
              </a:defRPr>
            </a:lvl1pPr>
          </a:lstStyle>
          <a:p>
            <a:r>
              <a:t>Management</a:t>
            </a:r>
          </a:p>
        </p:txBody>
      </p:sp>
      <p:sp>
        <p:nvSpPr>
          <p:cNvPr id="33" name="Text 13"/>
          <p:cNvSpPr txBox="1"/>
          <p:nvPr/>
        </p:nvSpPr>
        <p:spPr>
          <a:xfrm>
            <a:off x="3840479" y="1976089"/>
            <a:ext cx="5120641" cy="647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5000" b="1">
                <a:solidFill>
                  <a:srgbClr val="FFFFFF"/>
                </a:solidFill>
              </a:defRPr>
            </a:lvl1pPr>
          </a:lstStyle>
          <a:p>
            <a:r>
              <a:t>System</a:t>
            </a:r>
          </a:p>
        </p:txBody>
      </p:sp>
      <p:sp>
        <p:nvSpPr>
          <p:cNvPr id="34" name="Text 14"/>
          <p:cNvSpPr txBox="1"/>
          <p:nvPr/>
        </p:nvSpPr>
        <p:spPr>
          <a:xfrm>
            <a:off x="3840479" y="2847647"/>
            <a:ext cx="5120641"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CADCFC"/>
                </a:solidFill>
              </a:defRPr>
            </a:lvl1pPr>
          </a:lstStyle>
          <a:p>
            <a:r>
              <a:t>A Full DevOps Lifecycle Implementation</a:t>
            </a:r>
          </a:p>
        </p:txBody>
      </p:sp>
      <p:sp>
        <p:nvSpPr>
          <p:cNvPr id="35" name="Shape 15"/>
          <p:cNvSpPr/>
          <p:nvPr/>
        </p:nvSpPr>
        <p:spPr>
          <a:xfrm>
            <a:off x="3840479" y="3246120"/>
            <a:ext cx="914401" cy="274321"/>
          </a:xfrm>
          <a:prstGeom prst="rect">
            <a:avLst/>
          </a:prstGeom>
          <a:solidFill>
            <a:srgbClr val="D97706"/>
          </a:solidFill>
          <a:ln w="12700">
            <a:solidFill>
              <a:srgbClr val="D97706"/>
            </a:solidFill>
          </a:ln>
        </p:spPr>
        <p:txBody>
          <a:bodyPr lIns="45719" rIns="45719"/>
          <a:lstStyle/>
          <a:p>
            <a:endParaRPr/>
          </a:p>
        </p:txBody>
      </p:sp>
      <p:sp>
        <p:nvSpPr>
          <p:cNvPr id="36" name="Text 16"/>
          <p:cNvSpPr txBox="1"/>
          <p:nvPr/>
        </p:nvSpPr>
        <p:spPr>
          <a:xfrm>
            <a:off x="3840479" y="3319780"/>
            <a:ext cx="9144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b="1">
                <a:solidFill>
                  <a:srgbClr val="FFFFFF"/>
                </a:solidFill>
              </a:defRPr>
            </a:lvl1pPr>
          </a:lstStyle>
          <a:p>
            <a:r>
              <a:t>Java</a:t>
            </a:r>
          </a:p>
        </p:txBody>
      </p:sp>
      <p:sp>
        <p:nvSpPr>
          <p:cNvPr id="37" name="Shape 17"/>
          <p:cNvSpPr/>
          <p:nvPr/>
        </p:nvSpPr>
        <p:spPr>
          <a:xfrm>
            <a:off x="4846320" y="3246120"/>
            <a:ext cx="914401" cy="274321"/>
          </a:xfrm>
          <a:prstGeom prst="rect">
            <a:avLst/>
          </a:prstGeom>
          <a:solidFill>
            <a:srgbClr val="0891B2"/>
          </a:solidFill>
          <a:ln w="12700">
            <a:solidFill>
              <a:srgbClr val="0891B2"/>
            </a:solidFill>
          </a:ln>
        </p:spPr>
        <p:txBody>
          <a:bodyPr lIns="45719" rIns="45719"/>
          <a:lstStyle/>
          <a:p>
            <a:endParaRPr/>
          </a:p>
        </p:txBody>
      </p:sp>
      <p:sp>
        <p:nvSpPr>
          <p:cNvPr id="38" name="Text 18"/>
          <p:cNvSpPr txBox="1"/>
          <p:nvPr/>
        </p:nvSpPr>
        <p:spPr>
          <a:xfrm>
            <a:off x="4846320" y="3319780"/>
            <a:ext cx="9144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b="1">
                <a:solidFill>
                  <a:srgbClr val="FFFFFF"/>
                </a:solidFill>
              </a:defRPr>
            </a:lvl1pPr>
          </a:lstStyle>
          <a:p>
            <a:r>
              <a:t>NetBeans</a:t>
            </a:r>
          </a:p>
        </p:txBody>
      </p:sp>
      <p:sp>
        <p:nvSpPr>
          <p:cNvPr id="39" name="Shape 19"/>
          <p:cNvSpPr/>
          <p:nvPr/>
        </p:nvSpPr>
        <p:spPr>
          <a:xfrm>
            <a:off x="5852159" y="3246120"/>
            <a:ext cx="914401" cy="274321"/>
          </a:xfrm>
          <a:prstGeom prst="rect">
            <a:avLst/>
          </a:prstGeom>
          <a:solidFill>
            <a:srgbClr val="DC2626"/>
          </a:solidFill>
          <a:ln w="12700">
            <a:solidFill>
              <a:srgbClr val="DC2626"/>
            </a:solidFill>
          </a:ln>
        </p:spPr>
        <p:txBody>
          <a:bodyPr lIns="45719" rIns="45719"/>
          <a:lstStyle/>
          <a:p>
            <a:endParaRPr/>
          </a:p>
        </p:txBody>
      </p:sp>
      <p:sp>
        <p:nvSpPr>
          <p:cNvPr id="40" name="Text 20"/>
          <p:cNvSpPr txBox="1"/>
          <p:nvPr/>
        </p:nvSpPr>
        <p:spPr>
          <a:xfrm>
            <a:off x="5852159" y="3319780"/>
            <a:ext cx="9144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b="1">
                <a:solidFill>
                  <a:srgbClr val="FFFFFF"/>
                </a:solidFill>
              </a:defRPr>
            </a:lvl1pPr>
          </a:lstStyle>
          <a:p>
            <a:r>
              <a:t>Git</a:t>
            </a:r>
          </a:p>
        </p:txBody>
      </p:sp>
      <p:sp>
        <p:nvSpPr>
          <p:cNvPr id="41" name="Shape 21"/>
          <p:cNvSpPr/>
          <p:nvPr/>
        </p:nvSpPr>
        <p:spPr>
          <a:xfrm>
            <a:off x="6858000" y="3246120"/>
            <a:ext cx="914400" cy="274321"/>
          </a:xfrm>
          <a:prstGeom prst="rect">
            <a:avLst/>
          </a:prstGeom>
          <a:solidFill>
            <a:srgbClr val="24292E"/>
          </a:solidFill>
          <a:ln w="12700">
            <a:solidFill>
              <a:srgbClr val="24292E"/>
            </a:solidFill>
          </a:ln>
        </p:spPr>
        <p:txBody>
          <a:bodyPr lIns="45719" rIns="45719"/>
          <a:lstStyle/>
          <a:p>
            <a:endParaRPr/>
          </a:p>
        </p:txBody>
      </p:sp>
      <p:sp>
        <p:nvSpPr>
          <p:cNvPr id="42" name="Text 22"/>
          <p:cNvSpPr txBox="1"/>
          <p:nvPr/>
        </p:nvSpPr>
        <p:spPr>
          <a:xfrm>
            <a:off x="6858000" y="3319780"/>
            <a:ext cx="91440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b="1">
                <a:solidFill>
                  <a:srgbClr val="FFFFFF"/>
                </a:solidFill>
              </a:defRPr>
            </a:lvl1pPr>
          </a:lstStyle>
          <a:p>
            <a:r>
              <a:t>GitHub</a:t>
            </a:r>
          </a:p>
        </p:txBody>
      </p:sp>
      <p:sp>
        <p:nvSpPr>
          <p:cNvPr id="43" name="Shape 23"/>
          <p:cNvSpPr/>
          <p:nvPr/>
        </p:nvSpPr>
        <p:spPr>
          <a:xfrm>
            <a:off x="7863840" y="3246120"/>
            <a:ext cx="914401" cy="274321"/>
          </a:xfrm>
          <a:prstGeom prst="rect">
            <a:avLst/>
          </a:prstGeom>
          <a:solidFill>
            <a:srgbClr val="7C3AED"/>
          </a:solidFill>
          <a:ln w="12700">
            <a:solidFill>
              <a:srgbClr val="7C3AED"/>
            </a:solidFill>
          </a:ln>
        </p:spPr>
        <p:txBody>
          <a:bodyPr lIns="45719" rIns="45719"/>
          <a:lstStyle/>
          <a:p>
            <a:endParaRPr/>
          </a:p>
        </p:txBody>
      </p:sp>
      <p:sp>
        <p:nvSpPr>
          <p:cNvPr id="44" name="Text 24"/>
          <p:cNvSpPr txBox="1"/>
          <p:nvPr/>
        </p:nvSpPr>
        <p:spPr>
          <a:xfrm>
            <a:off x="7863840" y="3319780"/>
            <a:ext cx="9144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b="1">
                <a:solidFill>
                  <a:srgbClr val="FFFFFF"/>
                </a:solidFill>
              </a:defRPr>
            </a:lvl1pPr>
          </a:lstStyle>
          <a:p>
            <a:r>
              <a:t>Maven</a:t>
            </a:r>
          </a:p>
        </p:txBody>
      </p:sp>
      <p:sp>
        <p:nvSpPr>
          <p:cNvPr id="45" name="Shape 25"/>
          <p:cNvSpPr/>
          <p:nvPr/>
        </p:nvSpPr>
        <p:spPr>
          <a:xfrm>
            <a:off x="3840479" y="3630167"/>
            <a:ext cx="914401" cy="274321"/>
          </a:xfrm>
          <a:prstGeom prst="rect">
            <a:avLst/>
          </a:prstGeom>
          <a:solidFill>
            <a:srgbClr val="DC2626"/>
          </a:solidFill>
          <a:ln w="12700">
            <a:solidFill>
              <a:srgbClr val="DC2626"/>
            </a:solidFill>
          </a:ln>
        </p:spPr>
        <p:txBody>
          <a:bodyPr lIns="45719" rIns="45719"/>
          <a:lstStyle/>
          <a:p>
            <a:endParaRPr/>
          </a:p>
        </p:txBody>
      </p:sp>
      <p:sp>
        <p:nvSpPr>
          <p:cNvPr id="46" name="Text 26"/>
          <p:cNvSpPr txBox="1"/>
          <p:nvPr/>
        </p:nvSpPr>
        <p:spPr>
          <a:xfrm>
            <a:off x="3840479" y="3703827"/>
            <a:ext cx="9144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b="1">
                <a:solidFill>
                  <a:srgbClr val="FFFFFF"/>
                </a:solidFill>
              </a:defRPr>
            </a:lvl1pPr>
          </a:lstStyle>
          <a:p>
            <a:r>
              <a:t>Jenkins</a:t>
            </a:r>
          </a:p>
        </p:txBody>
      </p:sp>
      <p:sp>
        <p:nvSpPr>
          <p:cNvPr id="47" name="Shape 27"/>
          <p:cNvSpPr/>
          <p:nvPr/>
        </p:nvSpPr>
        <p:spPr>
          <a:xfrm>
            <a:off x="4846320" y="3630167"/>
            <a:ext cx="914401" cy="274321"/>
          </a:xfrm>
          <a:prstGeom prst="rect">
            <a:avLst/>
          </a:prstGeom>
          <a:solidFill>
            <a:srgbClr val="2C6D3F"/>
          </a:solidFill>
          <a:ln w="12700">
            <a:solidFill>
              <a:srgbClr val="2C6D3F"/>
            </a:solidFill>
          </a:ln>
        </p:spPr>
        <p:txBody>
          <a:bodyPr lIns="45719" rIns="45719"/>
          <a:lstStyle/>
          <a:p>
            <a:endParaRPr/>
          </a:p>
        </p:txBody>
      </p:sp>
      <p:sp>
        <p:nvSpPr>
          <p:cNvPr id="48" name="Text 28"/>
          <p:cNvSpPr txBox="1"/>
          <p:nvPr/>
        </p:nvSpPr>
        <p:spPr>
          <a:xfrm>
            <a:off x="4846320" y="3703827"/>
            <a:ext cx="9144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b="1">
                <a:solidFill>
                  <a:srgbClr val="FFFFFF"/>
                </a:solidFill>
              </a:defRPr>
            </a:lvl1pPr>
          </a:lstStyle>
          <a:p>
            <a:r>
              <a:t>JUnit 5</a:t>
            </a:r>
          </a:p>
        </p:txBody>
      </p:sp>
      <p:sp>
        <p:nvSpPr>
          <p:cNvPr id="49" name="Shape 29"/>
          <p:cNvSpPr/>
          <p:nvPr/>
        </p:nvSpPr>
        <p:spPr>
          <a:xfrm>
            <a:off x="5852159" y="3630167"/>
            <a:ext cx="914401" cy="274321"/>
          </a:xfrm>
          <a:prstGeom prst="rect">
            <a:avLst/>
          </a:prstGeom>
          <a:solidFill>
            <a:srgbClr val="0891B2"/>
          </a:solidFill>
          <a:ln w="12700">
            <a:solidFill>
              <a:srgbClr val="0891B2"/>
            </a:solidFill>
          </a:ln>
        </p:spPr>
        <p:txBody>
          <a:bodyPr lIns="45719" rIns="45719"/>
          <a:lstStyle/>
          <a:p>
            <a:endParaRPr/>
          </a:p>
        </p:txBody>
      </p:sp>
      <p:sp>
        <p:nvSpPr>
          <p:cNvPr id="50" name="Text 30"/>
          <p:cNvSpPr txBox="1"/>
          <p:nvPr/>
        </p:nvSpPr>
        <p:spPr>
          <a:xfrm>
            <a:off x="5852159" y="3703827"/>
            <a:ext cx="9144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b="1">
                <a:solidFill>
                  <a:srgbClr val="FFFFFF"/>
                </a:solidFill>
              </a:defRPr>
            </a:lvl1pPr>
          </a:lstStyle>
          <a:p>
            <a:r>
              <a:t>Docker</a:t>
            </a:r>
          </a:p>
        </p:txBody>
      </p:sp>
      <p:sp>
        <p:nvSpPr>
          <p:cNvPr id="51" name="Shape 31"/>
          <p:cNvSpPr/>
          <p:nvPr/>
        </p:nvSpPr>
        <p:spPr>
          <a:xfrm>
            <a:off x="6858000" y="3630167"/>
            <a:ext cx="914400" cy="274321"/>
          </a:xfrm>
          <a:prstGeom prst="rect">
            <a:avLst/>
          </a:prstGeom>
          <a:solidFill>
            <a:srgbClr val="D97706"/>
          </a:solidFill>
          <a:ln w="12700">
            <a:solidFill>
              <a:srgbClr val="D97706"/>
            </a:solidFill>
          </a:ln>
        </p:spPr>
        <p:txBody>
          <a:bodyPr lIns="45719" rIns="45719"/>
          <a:lstStyle/>
          <a:p>
            <a:endParaRPr/>
          </a:p>
        </p:txBody>
      </p:sp>
      <p:sp>
        <p:nvSpPr>
          <p:cNvPr id="52" name="Text 32"/>
          <p:cNvSpPr txBox="1"/>
          <p:nvPr/>
        </p:nvSpPr>
        <p:spPr>
          <a:xfrm>
            <a:off x="6858000" y="3703827"/>
            <a:ext cx="91440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b="1">
                <a:solidFill>
                  <a:srgbClr val="FFFFFF"/>
                </a:solidFill>
              </a:defRPr>
            </a:lvl1pPr>
          </a:lstStyle>
          <a:p>
            <a:r>
              <a:t>AWS EC2</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4B"/>
        </a:solidFill>
        <a:effectLst/>
      </p:bgPr>
    </p:bg>
    <p:spTree>
      <p:nvGrpSpPr>
        <p:cNvPr id="1" name=""/>
        <p:cNvGrpSpPr/>
        <p:nvPr/>
      </p:nvGrpSpPr>
      <p:grpSpPr>
        <a:xfrm>
          <a:off x="0" y="0"/>
          <a:ext cx="0" cy="0"/>
          <a:chOff x="0" y="0"/>
          <a:chExt cx="0" cy="0"/>
        </a:xfrm>
      </p:grpSpPr>
      <p:sp>
        <p:nvSpPr>
          <p:cNvPr id="54" name="Shape 0"/>
          <p:cNvSpPr/>
          <p:nvPr/>
        </p:nvSpPr>
        <p:spPr>
          <a:xfrm>
            <a:off x="0" y="-1"/>
            <a:ext cx="9144000" cy="73154"/>
          </a:xfrm>
          <a:prstGeom prst="rect">
            <a:avLst/>
          </a:prstGeom>
          <a:solidFill>
            <a:srgbClr val="4FC3F7"/>
          </a:solidFill>
          <a:ln w="12700">
            <a:solidFill>
              <a:srgbClr val="4FC3F7"/>
            </a:solidFill>
          </a:ln>
        </p:spPr>
        <p:txBody>
          <a:bodyPr lIns="45719" rIns="45719"/>
          <a:lstStyle/>
          <a:p>
            <a:endParaRPr/>
          </a:p>
        </p:txBody>
      </p:sp>
      <p:sp>
        <p:nvSpPr>
          <p:cNvPr id="55" name="Text 1"/>
          <p:cNvSpPr txBox="1"/>
          <p:nvPr/>
        </p:nvSpPr>
        <p:spPr>
          <a:xfrm>
            <a:off x="365759" y="233532"/>
            <a:ext cx="8412482" cy="3010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400" b="1">
                <a:solidFill>
                  <a:srgbClr val="FFFFFF"/>
                </a:solidFill>
              </a:defRPr>
            </a:lvl1pPr>
          </a:lstStyle>
          <a:p>
            <a:r>
              <a:t>DevOps Workflow — End-to-End Pipeline</a:t>
            </a:r>
          </a:p>
        </p:txBody>
      </p:sp>
      <p:sp>
        <p:nvSpPr>
          <p:cNvPr id="56" name="Text 2"/>
          <p:cNvSpPr txBox="1"/>
          <p:nvPr/>
        </p:nvSpPr>
        <p:spPr>
          <a:xfrm>
            <a:off x="365759" y="700962"/>
            <a:ext cx="8412482"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4FC3F7"/>
                </a:solidFill>
              </a:defRPr>
            </a:lvl1pPr>
          </a:lstStyle>
          <a:p>
            <a:r>
              <a:t>How all tools connect across the project lifecycle</a:t>
            </a:r>
          </a:p>
        </p:txBody>
      </p:sp>
      <p:sp>
        <p:nvSpPr>
          <p:cNvPr id="57" name="Shape 3"/>
          <p:cNvSpPr/>
          <p:nvPr/>
        </p:nvSpPr>
        <p:spPr>
          <a:xfrm>
            <a:off x="228600" y="1188719"/>
            <a:ext cx="1005839" cy="1463042"/>
          </a:xfrm>
          <a:prstGeom prst="rect">
            <a:avLst/>
          </a:prstGeom>
          <a:solidFill>
            <a:srgbClr val="0F2557"/>
          </a:solidFill>
          <a:ln w="25400">
            <a:solidFill>
              <a:srgbClr val="4FC3F7"/>
            </a:solidFill>
          </a:ln>
          <a:effectLst>
            <a:outerShdw blurRad="101600" dist="38100" dir="8100000" rotWithShape="0">
              <a:srgbClr val="000000">
                <a:alpha val="18000"/>
              </a:srgbClr>
            </a:outerShdw>
          </a:effectLst>
        </p:spPr>
        <p:txBody>
          <a:bodyPr lIns="45719" rIns="45719"/>
          <a:lstStyle/>
          <a:p>
            <a:endParaRPr/>
          </a:p>
        </p:txBody>
      </p:sp>
      <p:sp>
        <p:nvSpPr>
          <p:cNvPr id="58" name="Shape 4"/>
          <p:cNvSpPr/>
          <p:nvPr/>
        </p:nvSpPr>
        <p:spPr>
          <a:xfrm>
            <a:off x="228600" y="1188719"/>
            <a:ext cx="1005839" cy="329185"/>
          </a:xfrm>
          <a:prstGeom prst="rect">
            <a:avLst/>
          </a:prstGeom>
          <a:solidFill>
            <a:srgbClr val="4FC3F7"/>
          </a:solidFill>
          <a:ln w="12700">
            <a:solidFill>
              <a:srgbClr val="4FC3F7"/>
            </a:solidFill>
          </a:ln>
        </p:spPr>
        <p:txBody>
          <a:bodyPr lIns="45719" rIns="45719"/>
          <a:lstStyle/>
          <a:p>
            <a:endParaRPr/>
          </a:p>
        </p:txBody>
      </p:sp>
      <p:sp>
        <p:nvSpPr>
          <p:cNvPr id="59" name="Text 5"/>
          <p:cNvSpPr txBox="1"/>
          <p:nvPr/>
        </p:nvSpPr>
        <p:spPr>
          <a:xfrm>
            <a:off x="228600" y="1188212"/>
            <a:ext cx="1005839"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600"/>
            </a:lvl1pPr>
          </a:lstStyle>
          <a:p>
            <a:r>
              <a:t>💻</a:t>
            </a:r>
          </a:p>
        </p:txBody>
      </p:sp>
      <p:sp>
        <p:nvSpPr>
          <p:cNvPr id="60" name="Text 6"/>
          <p:cNvSpPr txBox="1"/>
          <p:nvPr/>
        </p:nvSpPr>
        <p:spPr>
          <a:xfrm>
            <a:off x="228600" y="1628140"/>
            <a:ext cx="10058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900" b="1">
                <a:solidFill>
                  <a:srgbClr val="FFFFFF"/>
                </a:solidFill>
              </a:defRPr>
            </a:lvl1pPr>
          </a:lstStyle>
          <a:p>
            <a:r>
              <a:t>Code</a:t>
            </a:r>
          </a:p>
        </p:txBody>
      </p:sp>
      <p:sp>
        <p:nvSpPr>
          <p:cNvPr id="61" name="Text 7"/>
          <p:cNvSpPr txBox="1"/>
          <p:nvPr/>
        </p:nvSpPr>
        <p:spPr>
          <a:xfrm>
            <a:off x="228600" y="2085340"/>
            <a:ext cx="10058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a:solidFill>
                  <a:srgbClr val="4FC3F7"/>
                </a:solidFill>
              </a:defRPr>
            </a:lvl1pPr>
          </a:lstStyle>
          <a:p>
            <a:r>
              <a:t>Java + NetBeans</a:t>
            </a:r>
          </a:p>
        </p:txBody>
      </p:sp>
      <p:sp>
        <p:nvSpPr>
          <p:cNvPr id="62" name="Text 8"/>
          <p:cNvSpPr txBox="1"/>
          <p:nvPr/>
        </p:nvSpPr>
        <p:spPr>
          <a:xfrm>
            <a:off x="1234439" y="1738806"/>
            <a:ext cx="201169"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94A3B8"/>
                </a:solidFill>
              </a:defRPr>
            </a:lvl1pPr>
          </a:lstStyle>
          <a:p>
            <a:r>
              <a:t>→</a:t>
            </a:r>
          </a:p>
        </p:txBody>
      </p:sp>
      <p:sp>
        <p:nvSpPr>
          <p:cNvPr id="63" name="Shape 9"/>
          <p:cNvSpPr/>
          <p:nvPr/>
        </p:nvSpPr>
        <p:spPr>
          <a:xfrm>
            <a:off x="1344167" y="1188719"/>
            <a:ext cx="1005840" cy="1463042"/>
          </a:xfrm>
          <a:prstGeom prst="rect">
            <a:avLst/>
          </a:prstGeom>
          <a:solidFill>
            <a:srgbClr val="0F2557"/>
          </a:solidFill>
          <a:ln w="25400">
            <a:solidFill>
              <a:srgbClr val="16A34A"/>
            </a:solidFill>
          </a:ln>
          <a:effectLst>
            <a:outerShdw blurRad="101600" dist="38100" dir="8100000" rotWithShape="0">
              <a:srgbClr val="000000">
                <a:alpha val="18000"/>
              </a:srgbClr>
            </a:outerShdw>
          </a:effectLst>
        </p:spPr>
        <p:txBody>
          <a:bodyPr lIns="45719" rIns="45719"/>
          <a:lstStyle/>
          <a:p>
            <a:endParaRPr/>
          </a:p>
        </p:txBody>
      </p:sp>
      <p:sp>
        <p:nvSpPr>
          <p:cNvPr id="64" name="Shape 10"/>
          <p:cNvSpPr/>
          <p:nvPr/>
        </p:nvSpPr>
        <p:spPr>
          <a:xfrm>
            <a:off x="1344167" y="1188719"/>
            <a:ext cx="1005840" cy="329185"/>
          </a:xfrm>
          <a:prstGeom prst="rect">
            <a:avLst/>
          </a:prstGeom>
          <a:solidFill>
            <a:srgbClr val="16A34A"/>
          </a:solidFill>
          <a:ln w="12700">
            <a:solidFill>
              <a:srgbClr val="16A34A"/>
            </a:solidFill>
          </a:ln>
        </p:spPr>
        <p:txBody>
          <a:bodyPr lIns="45719" rIns="45719"/>
          <a:lstStyle/>
          <a:p>
            <a:endParaRPr/>
          </a:p>
        </p:txBody>
      </p:sp>
      <p:sp>
        <p:nvSpPr>
          <p:cNvPr id="65" name="Text 11"/>
          <p:cNvSpPr txBox="1"/>
          <p:nvPr/>
        </p:nvSpPr>
        <p:spPr>
          <a:xfrm>
            <a:off x="1344167" y="1188212"/>
            <a:ext cx="1005840"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600"/>
            </a:lvl1pPr>
          </a:lstStyle>
          <a:p>
            <a:r>
              <a:t>🌿</a:t>
            </a:r>
          </a:p>
        </p:txBody>
      </p:sp>
      <p:sp>
        <p:nvSpPr>
          <p:cNvPr id="66" name="Text 12"/>
          <p:cNvSpPr txBox="1"/>
          <p:nvPr/>
        </p:nvSpPr>
        <p:spPr>
          <a:xfrm>
            <a:off x="1344167" y="1628140"/>
            <a:ext cx="100584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900" b="1">
                <a:solidFill>
                  <a:srgbClr val="FFFFFF"/>
                </a:solidFill>
              </a:defRPr>
            </a:lvl1pPr>
          </a:lstStyle>
          <a:p>
            <a:r>
              <a:t>Version Control</a:t>
            </a:r>
          </a:p>
        </p:txBody>
      </p:sp>
      <p:sp>
        <p:nvSpPr>
          <p:cNvPr id="67" name="Text 13"/>
          <p:cNvSpPr txBox="1"/>
          <p:nvPr/>
        </p:nvSpPr>
        <p:spPr>
          <a:xfrm>
            <a:off x="1344167" y="2085340"/>
            <a:ext cx="100584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a:solidFill>
                  <a:srgbClr val="16A34A"/>
                </a:solidFill>
              </a:defRPr>
            </a:lvl1pPr>
          </a:lstStyle>
          <a:p>
            <a:r>
              <a:t>Git + GitHub</a:t>
            </a:r>
          </a:p>
        </p:txBody>
      </p:sp>
      <p:sp>
        <p:nvSpPr>
          <p:cNvPr id="68" name="Text 14"/>
          <p:cNvSpPr txBox="1"/>
          <p:nvPr/>
        </p:nvSpPr>
        <p:spPr>
          <a:xfrm>
            <a:off x="2350007" y="1738806"/>
            <a:ext cx="201169"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94A3B8"/>
                </a:solidFill>
              </a:defRPr>
            </a:lvl1pPr>
          </a:lstStyle>
          <a:p>
            <a:r>
              <a:t>→</a:t>
            </a:r>
          </a:p>
        </p:txBody>
      </p:sp>
      <p:sp>
        <p:nvSpPr>
          <p:cNvPr id="69" name="Shape 15"/>
          <p:cNvSpPr/>
          <p:nvPr/>
        </p:nvSpPr>
        <p:spPr>
          <a:xfrm>
            <a:off x="2459735" y="1188719"/>
            <a:ext cx="1005840" cy="1463042"/>
          </a:xfrm>
          <a:prstGeom prst="rect">
            <a:avLst/>
          </a:prstGeom>
          <a:solidFill>
            <a:srgbClr val="0F2557"/>
          </a:solidFill>
          <a:ln w="25400">
            <a:solidFill>
              <a:srgbClr val="D97706"/>
            </a:solidFill>
          </a:ln>
          <a:effectLst>
            <a:outerShdw blurRad="101600" dist="38100" dir="8100000" rotWithShape="0">
              <a:srgbClr val="000000">
                <a:alpha val="18000"/>
              </a:srgbClr>
            </a:outerShdw>
          </a:effectLst>
        </p:spPr>
        <p:txBody>
          <a:bodyPr lIns="45719" rIns="45719"/>
          <a:lstStyle/>
          <a:p>
            <a:endParaRPr/>
          </a:p>
        </p:txBody>
      </p:sp>
      <p:sp>
        <p:nvSpPr>
          <p:cNvPr id="70" name="Shape 16"/>
          <p:cNvSpPr/>
          <p:nvPr/>
        </p:nvSpPr>
        <p:spPr>
          <a:xfrm>
            <a:off x="2459735" y="1188719"/>
            <a:ext cx="1005840" cy="329185"/>
          </a:xfrm>
          <a:prstGeom prst="rect">
            <a:avLst/>
          </a:prstGeom>
          <a:solidFill>
            <a:srgbClr val="D97706"/>
          </a:solidFill>
          <a:ln w="12700">
            <a:solidFill>
              <a:srgbClr val="D97706"/>
            </a:solidFill>
          </a:ln>
        </p:spPr>
        <p:txBody>
          <a:bodyPr lIns="45719" rIns="45719"/>
          <a:lstStyle/>
          <a:p>
            <a:endParaRPr/>
          </a:p>
        </p:txBody>
      </p:sp>
      <p:sp>
        <p:nvSpPr>
          <p:cNvPr id="71" name="Text 17"/>
          <p:cNvSpPr txBox="1"/>
          <p:nvPr/>
        </p:nvSpPr>
        <p:spPr>
          <a:xfrm>
            <a:off x="2459735" y="1188212"/>
            <a:ext cx="1005840"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600"/>
            </a:lvl1pPr>
          </a:lstStyle>
          <a:p>
            <a:r>
              <a:t>🔨</a:t>
            </a:r>
          </a:p>
        </p:txBody>
      </p:sp>
      <p:sp>
        <p:nvSpPr>
          <p:cNvPr id="72" name="Text 18"/>
          <p:cNvSpPr txBox="1"/>
          <p:nvPr/>
        </p:nvSpPr>
        <p:spPr>
          <a:xfrm>
            <a:off x="2459735" y="1628140"/>
            <a:ext cx="100584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900" b="1">
                <a:solidFill>
                  <a:srgbClr val="FFFFFF"/>
                </a:solidFill>
              </a:defRPr>
            </a:lvl1pPr>
          </a:lstStyle>
          <a:p>
            <a:r>
              <a:t>Build</a:t>
            </a:r>
          </a:p>
        </p:txBody>
      </p:sp>
      <p:sp>
        <p:nvSpPr>
          <p:cNvPr id="73" name="Text 19"/>
          <p:cNvSpPr txBox="1"/>
          <p:nvPr/>
        </p:nvSpPr>
        <p:spPr>
          <a:xfrm>
            <a:off x="2459735" y="2085340"/>
            <a:ext cx="100584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a:solidFill>
                  <a:srgbClr val="D97706"/>
                </a:solidFill>
              </a:defRPr>
            </a:lvl1pPr>
          </a:lstStyle>
          <a:p>
            <a:r>
              <a:t>Maven</a:t>
            </a:r>
          </a:p>
        </p:txBody>
      </p:sp>
      <p:sp>
        <p:nvSpPr>
          <p:cNvPr id="74" name="Text 20"/>
          <p:cNvSpPr txBox="1"/>
          <p:nvPr/>
        </p:nvSpPr>
        <p:spPr>
          <a:xfrm>
            <a:off x="3465576" y="1738806"/>
            <a:ext cx="201169"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94A3B8"/>
                </a:solidFill>
              </a:defRPr>
            </a:lvl1pPr>
          </a:lstStyle>
          <a:p>
            <a:r>
              <a:t>→</a:t>
            </a:r>
          </a:p>
        </p:txBody>
      </p:sp>
      <p:sp>
        <p:nvSpPr>
          <p:cNvPr id="75" name="Shape 21"/>
          <p:cNvSpPr/>
          <p:nvPr/>
        </p:nvSpPr>
        <p:spPr>
          <a:xfrm>
            <a:off x="3575303" y="1188719"/>
            <a:ext cx="1005840" cy="1463042"/>
          </a:xfrm>
          <a:prstGeom prst="rect">
            <a:avLst/>
          </a:prstGeom>
          <a:solidFill>
            <a:srgbClr val="0F2557"/>
          </a:solidFill>
          <a:ln w="25400">
            <a:solidFill>
              <a:srgbClr val="7C3AED"/>
            </a:solidFill>
          </a:ln>
          <a:effectLst>
            <a:outerShdw blurRad="101600" dist="38100" dir="8100000" rotWithShape="0">
              <a:srgbClr val="000000">
                <a:alpha val="18000"/>
              </a:srgbClr>
            </a:outerShdw>
          </a:effectLst>
        </p:spPr>
        <p:txBody>
          <a:bodyPr lIns="45719" rIns="45719"/>
          <a:lstStyle/>
          <a:p>
            <a:endParaRPr/>
          </a:p>
        </p:txBody>
      </p:sp>
      <p:sp>
        <p:nvSpPr>
          <p:cNvPr id="76" name="Shape 22"/>
          <p:cNvSpPr/>
          <p:nvPr/>
        </p:nvSpPr>
        <p:spPr>
          <a:xfrm>
            <a:off x="3575303" y="1188719"/>
            <a:ext cx="1005840" cy="329185"/>
          </a:xfrm>
          <a:prstGeom prst="rect">
            <a:avLst/>
          </a:prstGeom>
          <a:solidFill>
            <a:srgbClr val="7C3AED"/>
          </a:solidFill>
          <a:ln w="12700">
            <a:solidFill>
              <a:srgbClr val="7C3AED"/>
            </a:solidFill>
          </a:ln>
        </p:spPr>
        <p:txBody>
          <a:bodyPr lIns="45719" rIns="45719"/>
          <a:lstStyle/>
          <a:p>
            <a:endParaRPr/>
          </a:p>
        </p:txBody>
      </p:sp>
      <p:sp>
        <p:nvSpPr>
          <p:cNvPr id="77" name="Text 23"/>
          <p:cNvSpPr txBox="1"/>
          <p:nvPr/>
        </p:nvSpPr>
        <p:spPr>
          <a:xfrm>
            <a:off x="3575303" y="1188212"/>
            <a:ext cx="1005840"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600"/>
            </a:lvl1pPr>
          </a:lstStyle>
          <a:p>
            <a:r>
              <a:t>🧪</a:t>
            </a:r>
          </a:p>
        </p:txBody>
      </p:sp>
      <p:sp>
        <p:nvSpPr>
          <p:cNvPr id="78" name="Text 24"/>
          <p:cNvSpPr txBox="1"/>
          <p:nvPr/>
        </p:nvSpPr>
        <p:spPr>
          <a:xfrm>
            <a:off x="3575303" y="1628140"/>
            <a:ext cx="100584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900" b="1">
                <a:solidFill>
                  <a:srgbClr val="FFFFFF"/>
                </a:solidFill>
              </a:defRPr>
            </a:lvl1pPr>
          </a:lstStyle>
          <a:p>
            <a:r>
              <a:t>Test</a:t>
            </a:r>
          </a:p>
        </p:txBody>
      </p:sp>
      <p:sp>
        <p:nvSpPr>
          <p:cNvPr id="79" name="Text 25"/>
          <p:cNvSpPr txBox="1"/>
          <p:nvPr/>
        </p:nvSpPr>
        <p:spPr>
          <a:xfrm>
            <a:off x="3575303" y="2085340"/>
            <a:ext cx="100584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a:solidFill>
                  <a:srgbClr val="7C3AED"/>
                </a:solidFill>
              </a:defRPr>
            </a:lvl1pPr>
          </a:lstStyle>
          <a:p>
            <a:r>
              <a:t>JUnit 5</a:t>
            </a:r>
          </a:p>
        </p:txBody>
      </p:sp>
      <p:sp>
        <p:nvSpPr>
          <p:cNvPr id="80" name="Text 26"/>
          <p:cNvSpPr txBox="1"/>
          <p:nvPr/>
        </p:nvSpPr>
        <p:spPr>
          <a:xfrm>
            <a:off x="4581144" y="1738806"/>
            <a:ext cx="201169"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94A3B8"/>
                </a:solidFill>
              </a:defRPr>
            </a:lvl1pPr>
          </a:lstStyle>
          <a:p>
            <a:r>
              <a:t>→</a:t>
            </a:r>
          </a:p>
        </p:txBody>
      </p:sp>
      <p:sp>
        <p:nvSpPr>
          <p:cNvPr id="81" name="Shape 27"/>
          <p:cNvSpPr/>
          <p:nvPr/>
        </p:nvSpPr>
        <p:spPr>
          <a:xfrm>
            <a:off x="4690871" y="1188719"/>
            <a:ext cx="1005840" cy="1463042"/>
          </a:xfrm>
          <a:prstGeom prst="rect">
            <a:avLst/>
          </a:prstGeom>
          <a:solidFill>
            <a:srgbClr val="0F2557"/>
          </a:solidFill>
          <a:ln w="25400">
            <a:solidFill>
              <a:srgbClr val="DC2626"/>
            </a:solidFill>
          </a:ln>
          <a:effectLst>
            <a:outerShdw blurRad="101600" dist="38100" dir="8100000" rotWithShape="0">
              <a:srgbClr val="000000">
                <a:alpha val="18000"/>
              </a:srgbClr>
            </a:outerShdw>
          </a:effectLst>
        </p:spPr>
        <p:txBody>
          <a:bodyPr lIns="45719" rIns="45719"/>
          <a:lstStyle/>
          <a:p>
            <a:endParaRPr/>
          </a:p>
        </p:txBody>
      </p:sp>
      <p:sp>
        <p:nvSpPr>
          <p:cNvPr id="82" name="Shape 28"/>
          <p:cNvSpPr/>
          <p:nvPr/>
        </p:nvSpPr>
        <p:spPr>
          <a:xfrm>
            <a:off x="4690871" y="1188719"/>
            <a:ext cx="1005840" cy="329185"/>
          </a:xfrm>
          <a:prstGeom prst="rect">
            <a:avLst/>
          </a:prstGeom>
          <a:solidFill>
            <a:srgbClr val="DC2626"/>
          </a:solidFill>
          <a:ln w="12700">
            <a:solidFill>
              <a:srgbClr val="DC2626"/>
            </a:solidFill>
          </a:ln>
        </p:spPr>
        <p:txBody>
          <a:bodyPr lIns="45719" rIns="45719"/>
          <a:lstStyle/>
          <a:p>
            <a:endParaRPr/>
          </a:p>
        </p:txBody>
      </p:sp>
      <p:sp>
        <p:nvSpPr>
          <p:cNvPr id="83" name="Text 29"/>
          <p:cNvSpPr txBox="1"/>
          <p:nvPr/>
        </p:nvSpPr>
        <p:spPr>
          <a:xfrm>
            <a:off x="4690871" y="1188212"/>
            <a:ext cx="1005840"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600"/>
            </a:lvl1pPr>
          </a:lstStyle>
          <a:p>
            <a:r>
              <a:t>⚙️</a:t>
            </a:r>
          </a:p>
        </p:txBody>
      </p:sp>
      <p:sp>
        <p:nvSpPr>
          <p:cNvPr id="84" name="Text 30"/>
          <p:cNvSpPr txBox="1"/>
          <p:nvPr/>
        </p:nvSpPr>
        <p:spPr>
          <a:xfrm>
            <a:off x="4690871" y="1628140"/>
            <a:ext cx="100584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900" b="1">
                <a:solidFill>
                  <a:srgbClr val="FFFFFF"/>
                </a:solidFill>
              </a:defRPr>
            </a:lvl1pPr>
          </a:lstStyle>
          <a:p>
            <a:r>
              <a:t>CI/CD</a:t>
            </a:r>
          </a:p>
        </p:txBody>
      </p:sp>
      <p:sp>
        <p:nvSpPr>
          <p:cNvPr id="85" name="Text 31"/>
          <p:cNvSpPr txBox="1"/>
          <p:nvPr/>
        </p:nvSpPr>
        <p:spPr>
          <a:xfrm>
            <a:off x="4690871" y="2085340"/>
            <a:ext cx="100584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a:solidFill>
                  <a:srgbClr val="DC2626"/>
                </a:solidFill>
              </a:defRPr>
            </a:lvl1pPr>
          </a:lstStyle>
          <a:p>
            <a:r>
              <a:t>Jenkins</a:t>
            </a:r>
          </a:p>
        </p:txBody>
      </p:sp>
      <p:sp>
        <p:nvSpPr>
          <p:cNvPr id="86" name="Text 32"/>
          <p:cNvSpPr txBox="1"/>
          <p:nvPr/>
        </p:nvSpPr>
        <p:spPr>
          <a:xfrm>
            <a:off x="5696711" y="1738806"/>
            <a:ext cx="201169"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94A3B8"/>
                </a:solidFill>
              </a:defRPr>
            </a:lvl1pPr>
          </a:lstStyle>
          <a:p>
            <a:r>
              <a:t>→</a:t>
            </a:r>
          </a:p>
        </p:txBody>
      </p:sp>
      <p:sp>
        <p:nvSpPr>
          <p:cNvPr id="87" name="Shape 33"/>
          <p:cNvSpPr/>
          <p:nvPr/>
        </p:nvSpPr>
        <p:spPr>
          <a:xfrm>
            <a:off x="5806440" y="1188719"/>
            <a:ext cx="1005840" cy="1463042"/>
          </a:xfrm>
          <a:prstGeom prst="rect">
            <a:avLst/>
          </a:prstGeom>
          <a:solidFill>
            <a:srgbClr val="0F2557"/>
          </a:solidFill>
          <a:ln w="25400">
            <a:solidFill>
              <a:srgbClr val="0891B2"/>
            </a:solidFill>
          </a:ln>
          <a:effectLst>
            <a:outerShdw blurRad="101600" dist="38100" dir="8100000" rotWithShape="0">
              <a:srgbClr val="000000">
                <a:alpha val="18000"/>
              </a:srgbClr>
            </a:outerShdw>
          </a:effectLst>
        </p:spPr>
        <p:txBody>
          <a:bodyPr lIns="45719" rIns="45719"/>
          <a:lstStyle/>
          <a:p>
            <a:endParaRPr/>
          </a:p>
        </p:txBody>
      </p:sp>
      <p:sp>
        <p:nvSpPr>
          <p:cNvPr id="88" name="Shape 34"/>
          <p:cNvSpPr/>
          <p:nvPr/>
        </p:nvSpPr>
        <p:spPr>
          <a:xfrm>
            <a:off x="5806440" y="1188719"/>
            <a:ext cx="1005840" cy="329185"/>
          </a:xfrm>
          <a:prstGeom prst="rect">
            <a:avLst/>
          </a:prstGeom>
          <a:solidFill>
            <a:srgbClr val="0891B2"/>
          </a:solidFill>
          <a:ln w="12700">
            <a:solidFill>
              <a:srgbClr val="0891B2"/>
            </a:solidFill>
          </a:ln>
        </p:spPr>
        <p:txBody>
          <a:bodyPr lIns="45719" rIns="45719"/>
          <a:lstStyle/>
          <a:p>
            <a:endParaRPr/>
          </a:p>
        </p:txBody>
      </p:sp>
      <p:sp>
        <p:nvSpPr>
          <p:cNvPr id="89" name="Text 35"/>
          <p:cNvSpPr txBox="1"/>
          <p:nvPr/>
        </p:nvSpPr>
        <p:spPr>
          <a:xfrm>
            <a:off x="5806440" y="1188212"/>
            <a:ext cx="1005840"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600"/>
            </a:lvl1pPr>
          </a:lstStyle>
          <a:p>
            <a:r>
              <a:t>🐳</a:t>
            </a:r>
          </a:p>
        </p:txBody>
      </p:sp>
      <p:sp>
        <p:nvSpPr>
          <p:cNvPr id="90" name="Text 36"/>
          <p:cNvSpPr txBox="1"/>
          <p:nvPr/>
        </p:nvSpPr>
        <p:spPr>
          <a:xfrm>
            <a:off x="5806440" y="1628140"/>
            <a:ext cx="100584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900" b="1">
                <a:solidFill>
                  <a:srgbClr val="FFFFFF"/>
                </a:solidFill>
              </a:defRPr>
            </a:lvl1pPr>
          </a:lstStyle>
          <a:p>
            <a:r>
              <a:t>Containerise</a:t>
            </a:r>
          </a:p>
        </p:txBody>
      </p:sp>
      <p:sp>
        <p:nvSpPr>
          <p:cNvPr id="91" name="Text 37"/>
          <p:cNvSpPr txBox="1"/>
          <p:nvPr/>
        </p:nvSpPr>
        <p:spPr>
          <a:xfrm>
            <a:off x="5806440" y="2085340"/>
            <a:ext cx="100584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a:solidFill>
                  <a:srgbClr val="0891B2"/>
                </a:solidFill>
              </a:defRPr>
            </a:lvl1pPr>
          </a:lstStyle>
          <a:p>
            <a:r>
              <a:t>Docker</a:t>
            </a:r>
          </a:p>
        </p:txBody>
      </p:sp>
      <p:sp>
        <p:nvSpPr>
          <p:cNvPr id="92" name="Text 38"/>
          <p:cNvSpPr txBox="1"/>
          <p:nvPr/>
        </p:nvSpPr>
        <p:spPr>
          <a:xfrm>
            <a:off x="6812280" y="1738806"/>
            <a:ext cx="201169"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94A3B8"/>
                </a:solidFill>
              </a:defRPr>
            </a:lvl1pPr>
          </a:lstStyle>
          <a:p>
            <a:r>
              <a:t>→</a:t>
            </a:r>
          </a:p>
        </p:txBody>
      </p:sp>
      <p:sp>
        <p:nvSpPr>
          <p:cNvPr id="93" name="Shape 39"/>
          <p:cNvSpPr/>
          <p:nvPr/>
        </p:nvSpPr>
        <p:spPr>
          <a:xfrm>
            <a:off x="6922007" y="1188719"/>
            <a:ext cx="1005840" cy="1463042"/>
          </a:xfrm>
          <a:prstGeom prst="rect">
            <a:avLst/>
          </a:prstGeom>
          <a:solidFill>
            <a:srgbClr val="0F2557"/>
          </a:solidFill>
          <a:ln w="25400">
            <a:solidFill>
              <a:srgbClr val="D97706"/>
            </a:solidFill>
          </a:ln>
          <a:effectLst>
            <a:outerShdw blurRad="101600" dist="38100" dir="8100000" rotWithShape="0">
              <a:srgbClr val="000000">
                <a:alpha val="18000"/>
              </a:srgbClr>
            </a:outerShdw>
          </a:effectLst>
        </p:spPr>
        <p:txBody>
          <a:bodyPr lIns="45719" rIns="45719"/>
          <a:lstStyle/>
          <a:p>
            <a:endParaRPr/>
          </a:p>
        </p:txBody>
      </p:sp>
      <p:sp>
        <p:nvSpPr>
          <p:cNvPr id="94" name="Shape 40"/>
          <p:cNvSpPr/>
          <p:nvPr/>
        </p:nvSpPr>
        <p:spPr>
          <a:xfrm>
            <a:off x="6922007" y="1188719"/>
            <a:ext cx="1005840" cy="329185"/>
          </a:xfrm>
          <a:prstGeom prst="rect">
            <a:avLst/>
          </a:prstGeom>
          <a:solidFill>
            <a:srgbClr val="D97706"/>
          </a:solidFill>
          <a:ln w="12700">
            <a:solidFill>
              <a:srgbClr val="D97706"/>
            </a:solidFill>
          </a:ln>
        </p:spPr>
        <p:txBody>
          <a:bodyPr lIns="45719" rIns="45719"/>
          <a:lstStyle/>
          <a:p>
            <a:endParaRPr/>
          </a:p>
        </p:txBody>
      </p:sp>
      <p:sp>
        <p:nvSpPr>
          <p:cNvPr id="95" name="Text 41"/>
          <p:cNvSpPr txBox="1"/>
          <p:nvPr/>
        </p:nvSpPr>
        <p:spPr>
          <a:xfrm>
            <a:off x="6922007" y="1188212"/>
            <a:ext cx="1005840"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600"/>
            </a:lvl1pPr>
          </a:lstStyle>
          <a:p>
            <a:r>
              <a:t>☁️</a:t>
            </a:r>
          </a:p>
        </p:txBody>
      </p:sp>
      <p:sp>
        <p:nvSpPr>
          <p:cNvPr id="96" name="Text 42"/>
          <p:cNvSpPr txBox="1"/>
          <p:nvPr/>
        </p:nvSpPr>
        <p:spPr>
          <a:xfrm>
            <a:off x="6922007" y="1628140"/>
            <a:ext cx="100584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900" b="1">
                <a:solidFill>
                  <a:srgbClr val="FFFFFF"/>
                </a:solidFill>
              </a:defRPr>
            </a:lvl1pPr>
          </a:lstStyle>
          <a:p>
            <a:r>
              <a:t>Deploy</a:t>
            </a:r>
          </a:p>
        </p:txBody>
      </p:sp>
      <p:sp>
        <p:nvSpPr>
          <p:cNvPr id="97" name="Text 43"/>
          <p:cNvSpPr txBox="1"/>
          <p:nvPr/>
        </p:nvSpPr>
        <p:spPr>
          <a:xfrm>
            <a:off x="6922007" y="2085340"/>
            <a:ext cx="100584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a:solidFill>
                  <a:srgbClr val="D97706"/>
                </a:solidFill>
              </a:defRPr>
            </a:lvl1pPr>
          </a:lstStyle>
          <a:p>
            <a:r>
              <a:t>AWS EC2</a:t>
            </a:r>
          </a:p>
        </p:txBody>
      </p:sp>
      <p:sp>
        <p:nvSpPr>
          <p:cNvPr id="98" name="Text 44"/>
          <p:cNvSpPr txBox="1"/>
          <p:nvPr/>
        </p:nvSpPr>
        <p:spPr>
          <a:xfrm>
            <a:off x="7927847" y="1738806"/>
            <a:ext cx="201169"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94A3B8"/>
                </a:solidFill>
              </a:defRPr>
            </a:lvl1pPr>
          </a:lstStyle>
          <a:p>
            <a:r>
              <a:t>→</a:t>
            </a:r>
          </a:p>
        </p:txBody>
      </p:sp>
      <p:sp>
        <p:nvSpPr>
          <p:cNvPr id="99" name="Shape 45"/>
          <p:cNvSpPr/>
          <p:nvPr/>
        </p:nvSpPr>
        <p:spPr>
          <a:xfrm>
            <a:off x="8037576" y="1188719"/>
            <a:ext cx="1005840" cy="1463042"/>
          </a:xfrm>
          <a:prstGeom prst="rect">
            <a:avLst/>
          </a:prstGeom>
          <a:solidFill>
            <a:srgbClr val="0F2557"/>
          </a:solidFill>
          <a:ln w="25400">
            <a:solidFill>
              <a:srgbClr val="22C55E"/>
            </a:solidFill>
          </a:ln>
          <a:effectLst>
            <a:outerShdw blurRad="101600" dist="38100" dir="8100000" rotWithShape="0">
              <a:srgbClr val="000000">
                <a:alpha val="18000"/>
              </a:srgbClr>
            </a:outerShdw>
          </a:effectLst>
        </p:spPr>
        <p:txBody>
          <a:bodyPr lIns="45719" rIns="45719"/>
          <a:lstStyle/>
          <a:p>
            <a:endParaRPr/>
          </a:p>
        </p:txBody>
      </p:sp>
      <p:sp>
        <p:nvSpPr>
          <p:cNvPr id="100" name="Shape 46"/>
          <p:cNvSpPr/>
          <p:nvPr/>
        </p:nvSpPr>
        <p:spPr>
          <a:xfrm>
            <a:off x="8037576" y="1188719"/>
            <a:ext cx="1005840" cy="329185"/>
          </a:xfrm>
          <a:prstGeom prst="rect">
            <a:avLst/>
          </a:prstGeom>
          <a:solidFill>
            <a:srgbClr val="22C55E"/>
          </a:solidFill>
          <a:ln w="12700">
            <a:solidFill>
              <a:srgbClr val="22C55E"/>
            </a:solidFill>
          </a:ln>
        </p:spPr>
        <p:txBody>
          <a:bodyPr lIns="45719" rIns="45719"/>
          <a:lstStyle/>
          <a:p>
            <a:endParaRPr/>
          </a:p>
        </p:txBody>
      </p:sp>
      <p:sp>
        <p:nvSpPr>
          <p:cNvPr id="101" name="Text 47"/>
          <p:cNvSpPr txBox="1"/>
          <p:nvPr/>
        </p:nvSpPr>
        <p:spPr>
          <a:xfrm>
            <a:off x="8037576" y="1188212"/>
            <a:ext cx="1005840"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600"/>
            </a:lvl1pPr>
          </a:lstStyle>
          <a:p>
            <a:r>
              <a:t>📊</a:t>
            </a:r>
          </a:p>
        </p:txBody>
      </p:sp>
      <p:sp>
        <p:nvSpPr>
          <p:cNvPr id="102" name="Text 48"/>
          <p:cNvSpPr txBox="1"/>
          <p:nvPr/>
        </p:nvSpPr>
        <p:spPr>
          <a:xfrm>
            <a:off x="8037576" y="1628140"/>
            <a:ext cx="100584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900" b="1">
                <a:solidFill>
                  <a:srgbClr val="FFFFFF"/>
                </a:solidFill>
              </a:defRPr>
            </a:lvl1pPr>
          </a:lstStyle>
          <a:p>
            <a:r>
              <a:t>Monitor</a:t>
            </a:r>
          </a:p>
        </p:txBody>
      </p:sp>
      <p:sp>
        <p:nvSpPr>
          <p:cNvPr id="103" name="Text 49"/>
          <p:cNvSpPr txBox="1"/>
          <p:nvPr/>
        </p:nvSpPr>
        <p:spPr>
          <a:xfrm>
            <a:off x="8037576" y="2085340"/>
            <a:ext cx="100584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a:solidFill>
                  <a:srgbClr val="22C55E"/>
                </a:solidFill>
              </a:defRPr>
            </a:lvl1pPr>
          </a:lstStyle>
          <a:p>
            <a:r>
              <a:t>CloudWatch</a:t>
            </a:r>
          </a:p>
        </p:txBody>
      </p:sp>
      <p:sp>
        <p:nvSpPr>
          <p:cNvPr id="104" name="Text 50"/>
          <p:cNvSpPr txBox="1"/>
          <p:nvPr/>
        </p:nvSpPr>
        <p:spPr>
          <a:xfrm>
            <a:off x="274320" y="2934139"/>
            <a:ext cx="3200401" cy="1667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4FC3F7"/>
                </a:solidFill>
              </a:defRPr>
            </a:lvl1pPr>
          </a:lstStyle>
          <a:p>
            <a:r>
              <a:t>Why DevOps?</a:t>
            </a:r>
          </a:p>
        </p:txBody>
      </p:sp>
      <p:sp>
        <p:nvSpPr>
          <p:cNvPr id="105" name="Text 51"/>
          <p:cNvSpPr txBox="1"/>
          <p:nvPr/>
        </p:nvSpPr>
        <p:spPr>
          <a:xfrm>
            <a:off x="274320" y="3274059"/>
            <a:ext cx="41148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  Automates repetitive tasks — build, test, deploy</a:t>
            </a:r>
          </a:p>
        </p:txBody>
      </p:sp>
      <p:sp>
        <p:nvSpPr>
          <p:cNvPr id="106" name="Text 52"/>
          <p:cNvSpPr txBox="1"/>
          <p:nvPr/>
        </p:nvSpPr>
        <p:spPr>
          <a:xfrm>
            <a:off x="274320" y="3575812"/>
            <a:ext cx="41148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  Reduces human error through standardised pipelines</a:t>
            </a:r>
          </a:p>
        </p:txBody>
      </p:sp>
      <p:sp>
        <p:nvSpPr>
          <p:cNvPr id="107" name="Text 53"/>
          <p:cNvSpPr txBox="1"/>
          <p:nvPr/>
        </p:nvSpPr>
        <p:spPr>
          <a:xfrm>
            <a:off x="274320" y="3877563"/>
            <a:ext cx="41148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  Enables faster, reliable software delivery</a:t>
            </a:r>
          </a:p>
        </p:txBody>
      </p:sp>
      <p:sp>
        <p:nvSpPr>
          <p:cNvPr id="108" name="Text 54"/>
          <p:cNvSpPr txBox="1"/>
          <p:nvPr/>
        </p:nvSpPr>
        <p:spPr>
          <a:xfrm>
            <a:off x="274320" y="4179315"/>
            <a:ext cx="41148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  Improves collaboration between development &amp; operations</a:t>
            </a:r>
          </a:p>
        </p:txBody>
      </p:sp>
      <p:sp>
        <p:nvSpPr>
          <p:cNvPr id="109" name="Shape 55"/>
          <p:cNvSpPr/>
          <p:nvPr/>
        </p:nvSpPr>
        <p:spPr>
          <a:xfrm>
            <a:off x="4754879" y="2880360"/>
            <a:ext cx="4206241" cy="2148841"/>
          </a:xfrm>
          <a:prstGeom prst="rect">
            <a:avLst/>
          </a:prstGeom>
          <a:solidFill>
            <a:srgbClr val="0F2557"/>
          </a:solidFill>
          <a:ln w="12700">
            <a:solidFill>
              <a:srgbClr val="4FC3F7"/>
            </a:solidFill>
          </a:ln>
          <a:effectLst>
            <a:outerShdw blurRad="101600" dist="38100" dir="8100000" rotWithShape="0">
              <a:srgbClr val="000000">
                <a:alpha val="18000"/>
              </a:srgbClr>
            </a:outerShdw>
          </a:effectLst>
        </p:spPr>
        <p:txBody>
          <a:bodyPr lIns="45719" rIns="45719"/>
          <a:lstStyle/>
          <a:p>
            <a:endParaRPr/>
          </a:p>
        </p:txBody>
      </p:sp>
      <p:sp>
        <p:nvSpPr>
          <p:cNvPr id="110" name="Text 56"/>
          <p:cNvSpPr txBox="1"/>
          <p:nvPr/>
        </p:nvSpPr>
        <p:spPr>
          <a:xfrm>
            <a:off x="4892040" y="3014394"/>
            <a:ext cx="3931921"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a:solidFill>
                  <a:srgbClr val="4FC3F7"/>
                </a:solidFill>
              </a:defRPr>
            </a:lvl1pPr>
          </a:lstStyle>
          <a:p>
            <a:r>
              <a:t>Project at a Glance</a:t>
            </a:r>
          </a:p>
        </p:txBody>
      </p:sp>
      <p:sp>
        <p:nvSpPr>
          <p:cNvPr id="111" name="Shape 57"/>
          <p:cNvSpPr/>
          <p:nvPr/>
        </p:nvSpPr>
        <p:spPr>
          <a:xfrm>
            <a:off x="4892040" y="3310128"/>
            <a:ext cx="347473" cy="256033"/>
          </a:xfrm>
          <a:prstGeom prst="rect">
            <a:avLst/>
          </a:prstGeom>
          <a:solidFill>
            <a:srgbClr val="4FC3F7"/>
          </a:solidFill>
          <a:ln w="12700">
            <a:solidFill>
              <a:srgbClr val="4FC3F7"/>
            </a:solidFill>
          </a:ln>
        </p:spPr>
        <p:txBody>
          <a:bodyPr lIns="45719" rIns="45719"/>
          <a:lstStyle/>
          <a:p>
            <a:endParaRPr/>
          </a:p>
        </p:txBody>
      </p:sp>
      <p:sp>
        <p:nvSpPr>
          <p:cNvPr id="112" name="Text 58"/>
          <p:cNvSpPr txBox="1"/>
          <p:nvPr/>
        </p:nvSpPr>
        <p:spPr>
          <a:xfrm>
            <a:off x="4892040" y="3371010"/>
            <a:ext cx="347473" cy="1342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b="1">
                <a:solidFill>
                  <a:srgbClr val="0D1B4B"/>
                </a:solidFill>
              </a:defRPr>
            </a:lvl1pPr>
          </a:lstStyle>
          <a:p>
            <a:r>
              <a:t>8</a:t>
            </a:r>
          </a:p>
        </p:txBody>
      </p:sp>
      <p:sp>
        <p:nvSpPr>
          <p:cNvPr id="113" name="Text 59"/>
          <p:cNvSpPr txBox="1"/>
          <p:nvPr/>
        </p:nvSpPr>
        <p:spPr>
          <a:xfrm>
            <a:off x="5285232" y="3383787"/>
            <a:ext cx="356616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Java Classes (Customer, Order, OrderDetail, Item, Payment hierarchy)</a:t>
            </a:r>
          </a:p>
        </p:txBody>
      </p:sp>
      <p:sp>
        <p:nvSpPr>
          <p:cNvPr id="114" name="Shape 60"/>
          <p:cNvSpPr/>
          <p:nvPr/>
        </p:nvSpPr>
        <p:spPr>
          <a:xfrm>
            <a:off x="4892040" y="3639311"/>
            <a:ext cx="347473" cy="256033"/>
          </a:xfrm>
          <a:prstGeom prst="rect">
            <a:avLst/>
          </a:prstGeom>
          <a:solidFill>
            <a:srgbClr val="4FC3F7"/>
          </a:solidFill>
          <a:ln w="12700">
            <a:solidFill>
              <a:srgbClr val="4FC3F7"/>
            </a:solidFill>
          </a:ln>
        </p:spPr>
        <p:txBody>
          <a:bodyPr lIns="45719" rIns="45719"/>
          <a:lstStyle/>
          <a:p>
            <a:endParaRPr/>
          </a:p>
        </p:txBody>
      </p:sp>
      <p:sp>
        <p:nvSpPr>
          <p:cNvPr id="115" name="Text 61"/>
          <p:cNvSpPr txBox="1"/>
          <p:nvPr/>
        </p:nvSpPr>
        <p:spPr>
          <a:xfrm>
            <a:off x="4892040" y="3700194"/>
            <a:ext cx="347473"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b="1">
                <a:solidFill>
                  <a:srgbClr val="0D1B4B"/>
                </a:solidFill>
              </a:defRPr>
            </a:lvl1pPr>
          </a:lstStyle>
          <a:p>
            <a:r>
              <a:t>7</a:t>
            </a:r>
          </a:p>
        </p:txBody>
      </p:sp>
      <p:sp>
        <p:nvSpPr>
          <p:cNvPr id="116" name="Text 62"/>
          <p:cNvSpPr txBox="1"/>
          <p:nvPr/>
        </p:nvSpPr>
        <p:spPr>
          <a:xfrm>
            <a:off x="5285232" y="3712971"/>
            <a:ext cx="356616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Git branches following Git Flow strategy</a:t>
            </a:r>
          </a:p>
        </p:txBody>
      </p:sp>
      <p:sp>
        <p:nvSpPr>
          <p:cNvPr id="117" name="Shape 63"/>
          <p:cNvSpPr/>
          <p:nvPr/>
        </p:nvSpPr>
        <p:spPr>
          <a:xfrm>
            <a:off x="4892040" y="3968496"/>
            <a:ext cx="347473" cy="256033"/>
          </a:xfrm>
          <a:prstGeom prst="rect">
            <a:avLst/>
          </a:prstGeom>
          <a:solidFill>
            <a:srgbClr val="4FC3F7"/>
          </a:solidFill>
          <a:ln w="12700">
            <a:solidFill>
              <a:srgbClr val="4FC3F7"/>
            </a:solidFill>
          </a:ln>
        </p:spPr>
        <p:txBody>
          <a:bodyPr lIns="45719" rIns="45719"/>
          <a:lstStyle/>
          <a:p>
            <a:endParaRPr/>
          </a:p>
        </p:txBody>
      </p:sp>
      <p:sp>
        <p:nvSpPr>
          <p:cNvPr id="118" name="Text 64"/>
          <p:cNvSpPr txBox="1"/>
          <p:nvPr/>
        </p:nvSpPr>
        <p:spPr>
          <a:xfrm>
            <a:off x="4892040" y="4029378"/>
            <a:ext cx="347473" cy="1342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b="1">
                <a:solidFill>
                  <a:srgbClr val="0D1B4B"/>
                </a:solidFill>
              </a:defRPr>
            </a:lvl1pPr>
          </a:lstStyle>
          <a:p>
            <a:r>
              <a:t>5</a:t>
            </a:r>
          </a:p>
        </p:txBody>
      </p:sp>
      <p:sp>
        <p:nvSpPr>
          <p:cNvPr id="119" name="Text 65"/>
          <p:cNvSpPr txBox="1"/>
          <p:nvPr/>
        </p:nvSpPr>
        <p:spPr>
          <a:xfrm>
            <a:off x="5285232" y="4042155"/>
            <a:ext cx="356616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Jenkins pipeline stages (Checkout→Build→Test→Package→Docker)</a:t>
            </a:r>
          </a:p>
        </p:txBody>
      </p:sp>
      <p:sp>
        <p:nvSpPr>
          <p:cNvPr id="120" name="Shape 66"/>
          <p:cNvSpPr/>
          <p:nvPr/>
        </p:nvSpPr>
        <p:spPr>
          <a:xfrm>
            <a:off x="4892040" y="4297679"/>
            <a:ext cx="347473" cy="256033"/>
          </a:xfrm>
          <a:prstGeom prst="rect">
            <a:avLst/>
          </a:prstGeom>
          <a:solidFill>
            <a:srgbClr val="4FC3F7"/>
          </a:solidFill>
          <a:ln w="12700">
            <a:solidFill>
              <a:srgbClr val="4FC3F7"/>
            </a:solidFill>
          </a:ln>
        </p:spPr>
        <p:txBody>
          <a:bodyPr lIns="45719" rIns="45719"/>
          <a:lstStyle/>
          <a:p>
            <a:endParaRPr/>
          </a:p>
        </p:txBody>
      </p:sp>
      <p:sp>
        <p:nvSpPr>
          <p:cNvPr id="121" name="Text 67"/>
          <p:cNvSpPr txBox="1"/>
          <p:nvPr/>
        </p:nvSpPr>
        <p:spPr>
          <a:xfrm>
            <a:off x="4892040" y="4358562"/>
            <a:ext cx="347473"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b="1">
                <a:solidFill>
                  <a:srgbClr val="0D1B4B"/>
                </a:solidFill>
              </a:defRPr>
            </a:lvl1pPr>
          </a:lstStyle>
          <a:p>
            <a:r>
              <a:t>10</a:t>
            </a:r>
          </a:p>
        </p:txBody>
      </p:sp>
      <p:sp>
        <p:nvSpPr>
          <p:cNvPr id="122" name="Text 68"/>
          <p:cNvSpPr txBox="1"/>
          <p:nvPr/>
        </p:nvSpPr>
        <p:spPr>
          <a:xfrm>
            <a:off x="5285232" y="4371339"/>
            <a:ext cx="356616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JUnit 5 unit test cases</a:t>
            </a:r>
          </a:p>
        </p:txBody>
      </p:sp>
      <p:sp>
        <p:nvSpPr>
          <p:cNvPr id="123" name="Shape 69"/>
          <p:cNvSpPr/>
          <p:nvPr/>
        </p:nvSpPr>
        <p:spPr>
          <a:xfrm>
            <a:off x="4892040" y="4626864"/>
            <a:ext cx="347473" cy="256033"/>
          </a:xfrm>
          <a:prstGeom prst="rect">
            <a:avLst/>
          </a:prstGeom>
          <a:solidFill>
            <a:srgbClr val="4FC3F7"/>
          </a:solidFill>
          <a:ln w="12700">
            <a:solidFill>
              <a:srgbClr val="4FC3F7"/>
            </a:solidFill>
          </a:ln>
        </p:spPr>
        <p:txBody>
          <a:bodyPr lIns="45719" rIns="45719"/>
          <a:lstStyle/>
          <a:p>
            <a:endParaRPr/>
          </a:p>
        </p:txBody>
      </p:sp>
      <p:sp>
        <p:nvSpPr>
          <p:cNvPr id="124" name="Text 70"/>
          <p:cNvSpPr txBox="1"/>
          <p:nvPr/>
        </p:nvSpPr>
        <p:spPr>
          <a:xfrm>
            <a:off x="4892040" y="4687746"/>
            <a:ext cx="347473"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b="1">
                <a:solidFill>
                  <a:srgbClr val="0D1B4B"/>
                </a:solidFill>
              </a:defRPr>
            </a:lvl1pPr>
          </a:lstStyle>
          <a:p>
            <a:r>
              <a:t>1</a:t>
            </a:r>
          </a:p>
        </p:txBody>
      </p:sp>
      <p:sp>
        <p:nvSpPr>
          <p:cNvPr id="125" name="Text 71"/>
          <p:cNvSpPr txBox="1"/>
          <p:nvPr/>
        </p:nvSpPr>
        <p:spPr>
          <a:xfrm>
            <a:off x="5285232" y="4700523"/>
            <a:ext cx="356616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Docker image deployed live on AWS EC2</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2FF"/>
        </a:solidFill>
        <a:effectLst/>
      </p:bgPr>
    </p:bg>
    <p:spTree>
      <p:nvGrpSpPr>
        <p:cNvPr id="1" name=""/>
        <p:cNvGrpSpPr/>
        <p:nvPr/>
      </p:nvGrpSpPr>
      <p:grpSpPr>
        <a:xfrm>
          <a:off x="0" y="0"/>
          <a:ext cx="0" cy="0"/>
          <a:chOff x="0" y="0"/>
          <a:chExt cx="0" cy="0"/>
        </a:xfrm>
      </p:grpSpPr>
      <p:sp>
        <p:nvSpPr>
          <p:cNvPr id="127" name="Shape 0"/>
          <p:cNvSpPr/>
          <p:nvPr/>
        </p:nvSpPr>
        <p:spPr>
          <a:xfrm>
            <a:off x="0" y="-1"/>
            <a:ext cx="9144000" cy="73154"/>
          </a:xfrm>
          <a:prstGeom prst="rect">
            <a:avLst/>
          </a:prstGeom>
          <a:solidFill>
            <a:srgbClr val="1E2761"/>
          </a:solidFill>
          <a:ln w="12700">
            <a:solidFill>
              <a:srgbClr val="1E2761"/>
            </a:solidFill>
          </a:ln>
        </p:spPr>
        <p:txBody>
          <a:bodyPr lIns="45719" rIns="45719"/>
          <a:lstStyle/>
          <a:p>
            <a:endParaRPr/>
          </a:p>
        </p:txBody>
      </p:sp>
      <p:sp>
        <p:nvSpPr>
          <p:cNvPr id="128" name="Shape 1"/>
          <p:cNvSpPr/>
          <p:nvPr/>
        </p:nvSpPr>
        <p:spPr>
          <a:xfrm>
            <a:off x="0" y="73151"/>
            <a:ext cx="64008" cy="5070350"/>
          </a:xfrm>
          <a:prstGeom prst="rect">
            <a:avLst/>
          </a:prstGeom>
          <a:solidFill>
            <a:srgbClr val="1E2761"/>
          </a:solidFill>
          <a:ln w="12700">
            <a:solidFill>
              <a:srgbClr val="1E2761"/>
            </a:solidFill>
          </a:ln>
        </p:spPr>
        <p:txBody>
          <a:bodyPr lIns="45719" rIns="45719"/>
          <a:lstStyle/>
          <a:p>
            <a:endParaRPr/>
          </a:p>
        </p:txBody>
      </p:sp>
      <p:sp>
        <p:nvSpPr>
          <p:cNvPr id="129" name="Text 2"/>
          <p:cNvSpPr txBox="1"/>
          <p:nvPr/>
        </p:nvSpPr>
        <p:spPr>
          <a:xfrm>
            <a:off x="274320" y="233532"/>
            <a:ext cx="8595360" cy="3010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400" b="1">
                <a:solidFill>
                  <a:srgbClr val="1E2761"/>
                </a:solidFill>
              </a:defRPr>
            </a:lvl1pPr>
          </a:lstStyle>
          <a:p>
            <a:r>
              <a:t>1: Java Prototype — Tools &amp; Design Decisions</a:t>
            </a:r>
          </a:p>
        </p:txBody>
      </p:sp>
      <p:sp>
        <p:nvSpPr>
          <p:cNvPr id="130" name="Text 3"/>
          <p:cNvSpPr txBox="1"/>
          <p:nvPr/>
        </p:nvSpPr>
        <p:spPr>
          <a:xfrm>
            <a:off x="274320" y="700962"/>
            <a:ext cx="8595360"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4A3B8"/>
                </a:solidFill>
              </a:defRPr>
            </a:lvl1pPr>
          </a:lstStyle>
          <a:p>
            <a:r>
              <a:t>Why Java? Why NetBeans? What does the class diagram model?</a:t>
            </a:r>
          </a:p>
        </p:txBody>
      </p:sp>
      <p:sp>
        <p:nvSpPr>
          <p:cNvPr id="131" name="Shape 4"/>
          <p:cNvSpPr/>
          <p:nvPr/>
        </p:nvSpPr>
        <p:spPr>
          <a:xfrm>
            <a:off x="201168" y="960119"/>
            <a:ext cx="4114801" cy="1463042"/>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132" name="Shape 5"/>
          <p:cNvSpPr/>
          <p:nvPr/>
        </p:nvSpPr>
        <p:spPr>
          <a:xfrm>
            <a:off x="201168" y="960119"/>
            <a:ext cx="64009" cy="1463042"/>
          </a:xfrm>
          <a:prstGeom prst="rect">
            <a:avLst/>
          </a:prstGeom>
          <a:solidFill>
            <a:srgbClr val="D97706"/>
          </a:solidFill>
          <a:ln w="12700">
            <a:solidFill>
              <a:srgbClr val="D97706"/>
            </a:solidFill>
          </a:ln>
        </p:spPr>
        <p:txBody>
          <a:bodyPr lIns="45719" rIns="45719"/>
          <a:lstStyle/>
          <a:p>
            <a:endParaRPr/>
          </a:p>
        </p:txBody>
      </p:sp>
      <p:sp>
        <p:nvSpPr>
          <p:cNvPr id="133" name="Text 6"/>
          <p:cNvSpPr txBox="1"/>
          <p:nvPr/>
        </p:nvSpPr>
        <p:spPr>
          <a:xfrm>
            <a:off x="365759" y="1092752"/>
            <a:ext cx="3886201"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D97706"/>
                </a:solidFill>
              </a:defRPr>
            </a:lvl1pPr>
          </a:lstStyle>
          <a:p>
            <a:r>
              <a:t>Why Java?</a:t>
            </a:r>
          </a:p>
        </p:txBody>
      </p:sp>
      <p:sp>
        <p:nvSpPr>
          <p:cNvPr id="134" name="Text 7"/>
          <p:cNvSpPr txBox="1"/>
          <p:nvPr/>
        </p:nvSpPr>
        <p:spPr>
          <a:xfrm>
            <a:off x="365759" y="1562013"/>
            <a:ext cx="3886201" cy="5335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1E293B"/>
                </a:solidFill>
              </a:defRPr>
            </a:lvl1pPr>
          </a:lstStyle>
          <a:p>
            <a:r>
              <a:t>Java is chosen for its strong OOP support — encapsulation, inheritance, and polymorphism map directly onto the UML class diagram. It is platform-independent (JVM), widely used in enterprise software, and integrates seamlessly with Maven, JUnit, and Jenkins in the DevOps toolchain.</a:t>
            </a:r>
          </a:p>
        </p:txBody>
      </p:sp>
      <p:sp>
        <p:nvSpPr>
          <p:cNvPr id="135" name="Shape 8"/>
          <p:cNvSpPr/>
          <p:nvPr/>
        </p:nvSpPr>
        <p:spPr>
          <a:xfrm>
            <a:off x="201168" y="2514600"/>
            <a:ext cx="4114801" cy="1371600"/>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136" name="Shape 9"/>
          <p:cNvSpPr/>
          <p:nvPr/>
        </p:nvSpPr>
        <p:spPr>
          <a:xfrm>
            <a:off x="201168" y="2514600"/>
            <a:ext cx="64009" cy="1371600"/>
          </a:xfrm>
          <a:prstGeom prst="rect">
            <a:avLst/>
          </a:prstGeom>
          <a:solidFill>
            <a:srgbClr val="0891B2"/>
          </a:solidFill>
          <a:ln w="12700">
            <a:solidFill>
              <a:srgbClr val="0891B2"/>
            </a:solidFill>
          </a:ln>
        </p:spPr>
        <p:txBody>
          <a:bodyPr lIns="45719" rIns="45719"/>
          <a:lstStyle/>
          <a:p>
            <a:endParaRPr/>
          </a:p>
        </p:txBody>
      </p:sp>
      <p:sp>
        <p:nvSpPr>
          <p:cNvPr id="137" name="Text 10"/>
          <p:cNvSpPr txBox="1"/>
          <p:nvPr/>
        </p:nvSpPr>
        <p:spPr>
          <a:xfrm>
            <a:off x="365759" y="2647232"/>
            <a:ext cx="3886201"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0891B2"/>
                </a:solidFill>
              </a:defRPr>
            </a:lvl1pPr>
          </a:lstStyle>
          <a:p>
            <a:r>
              <a:t>Why NetBeans IDE?</a:t>
            </a:r>
          </a:p>
        </p:txBody>
      </p:sp>
      <p:sp>
        <p:nvSpPr>
          <p:cNvPr id="138" name="Text 11"/>
          <p:cNvSpPr txBox="1"/>
          <p:nvPr/>
        </p:nvSpPr>
        <p:spPr>
          <a:xfrm>
            <a:off x="365759" y="3070772"/>
            <a:ext cx="3886201" cy="533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1E293B"/>
                </a:solidFill>
              </a:defRPr>
            </a:lvl1pPr>
          </a:lstStyle>
          <a:p>
            <a:r>
              <a:t>NetBeans provides built-in Maven project support, integrated Git version control (Team menu), and one-click JUnit test execution — making it ideal for a DevOps-aligned Java workflow. The IDE also supports direct terminal access for Docker and Git commands.</a:t>
            </a:r>
          </a:p>
        </p:txBody>
      </p:sp>
      <p:sp>
        <p:nvSpPr>
          <p:cNvPr id="139" name="Text 12"/>
          <p:cNvSpPr txBox="1"/>
          <p:nvPr/>
        </p:nvSpPr>
        <p:spPr>
          <a:xfrm>
            <a:off x="4571999" y="984426"/>
            <a:ext cx="4389122"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a:solidFill>
                  <a:srgbClr val="1E2761"/>
                </a:solidFill>
              </a:defRPr>
            </a:lvl1pPr>
          </a:lstStyle>
          <a:p>
            <a:r>
              <a:t>Class Design — What Each Class Models</a:t>
            </a:r>
          </a:p>
        </p:txBody>
      </p:sp>
      <p:sp>
        <p:nvSpPr>
          <p:cNvPr id="140" name="Shape 13"/>
          <p:cNvSpPr/>
          <p:nvPr/>
        </p:nvSpPr>
        <p:spPr>
          <a:xfrm>
            <a:off x="4571999" y="1234439"/>
            <a:ext cx="4389122" cy="420625"/>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141" name="Shape 14"/>
          <p:cNvSpPr/>
          <p:nvPr/>
        </p:nvSpPr>
        <p:spPr>
          <a:xfrm>
            <a:off x="4572000" y="1234439"/>
            <a:ext cx="54864" cy="420625"/>
          </a:xfrm>
          <a:prstGeom prst="rect">
            <a:avLst/>
          </a:prstGeom>
          <a:solidFill>
            <a:srgbClr val="16A34A"/>
          </a:solidFill>
          <a:ln w="12700">
            <a:solidFill>
              <a:srgbClr val="16A34A"/>
            </a:solidFill>
          </a:ln>
        </p:spPr>
        <p:txBody>
          <a:bodyPr lIns="45719" rIns="45719"/>
          <a:lstStyle/>
          <a:p>
            <a:endParaRPr/>
          </a:p>
        </p:txBody>
      </p:sp>
      <p:sp>
        <p:nvSpPr>
          <p:cNvPr id="142" name="Text 15"/>
          <p:cNvSpPr txBox="1"/>
          <p:nvPr/>
        </p:nvSpPr>
        <p:spPr>
          <a:xfrm>
            <a:off x="4663440" y="1280667"/>
            <a:ext cx="13716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b="1">
                <a:solidFill>
                  <a:srgbClr val="16A34A"/>
                </a:solidFill>
              </a:defRPr>
            </a:lvl1pPr>
          </a:lstStyle>
          <a:p>
            <a:r>
              <a:t>Customer</a:t>
            </a:r>
          </a:p>
        </p:txBody>
      </p:sp>
      <p:sp>
        <p:nvSpPr>
          <p:cNvPr id="143" name="Text 16"/>
          <p:cNvSpPr txBox="1"/>
          <p:nvPr/>
        </p:nvSpPr>
        <p:spPr>
          <a:xfrm>
            <a:off x="4663440" y="1454403"/>
            <a:ext cx="420624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374151"/>
                </a:solidFill>
              </a:defRPr>
            </a:lvl1pPr>
          </a:lstStyle>
          <a:p>
            <a:r>
              <a:t>Holds customer name, address and a list of Orders placed</a:t>
            </a:r>
          </a:p>
        </p:txBody>
      </p:sp>
      <p:sp>
        <p:nvSpPr>
          <p:cNvPr id="144" name="Shape 17"/>
          <p:cNvSpPr/>
          <p:nvPr/>
        </p:nvSpPr>
        <p:spPr>
          <a:xfrm>
            <a:off x="4571999" y="1737360"/>
            <a:ext cx="4389122" cy="420625"/>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145" name="Shape 18"/>
          <p:cNvSpPr/>
          <p:nvPr/>
        </p:nvSpPr>
        <p:spPr>
          <a:xfrm>
            <a:off x="4572000" y="1737360"/>
            <a:ext cx="54864" cy="420625"/>
          </a:xfrm>
          <a:prstGeom prst="rect">
            <a:avLst/>
          </a:prstGeom>
          <a:solidFill>
            <a:srgbClr val="DC2626"/>
          </a:solidFill>
          <a:ln w="12700">
            <a:solidFill>
              <a:srgbClr val="DC2626"/>
            </a:solidFill>
          </a:ln>
        </p:spPr>
        <p:txBody>
          <a:bodyPr lIns="45719" rIns="45719"/>
          <a:lstStyle/>
          <a:p>
            <a:endParaRPr/>
          </a:p>
        </p:txBody>
      </p:sp>
      <p:sp>
        <p:nvSpPr>
          <p:cNvPr id="146" name="Text 19"/>
          <p:cNvSpPr txBox="1"/>
          <p:nvPr/>
        </p:nvSpPr>
        <p:spPr>
          <a:xfrm>
            <a:off x="4663440" y="1783588"/>
            <a:ext cx="13716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b="1">
                <a:solidFill>
                  <a:srgbClr val="DC2626"/>
                </a:solidFill>
              </a:defRPr>
            </a:lvl1pPr>
          </a:lstStyle>
          <a:p>
            <a:r>
              <a:t>Order</a:t>
            </a:r>
          </a:p>
        </p:txBody>
      </p:sp>
      <p:sp>
        <p:nvSpPr>
          <p:cNvPr id="147" name="Text 20"/>
          <p:cNvSpPr txBox="1"/>
          <p:nvPr/>
        </p:nvSpPr>
        <p:spPr>
          <a:xfrm>
            <a:off x="4663440" y="1957323"/>
            <a:ext cx="420624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374151"/>
                </a:solidFill>
              </a:defRPr>
            </a:lvl1pPr>
          </a:lstStyle>
          <a:p>
            <a:r>
              <a:t>Tracks date, status; calculates SubTotal, Tax, Total, Weight</a:t>
            </a:r>
          </a:p>
        </p:txBody>
      </p:sp>
      <p:sp>
        <p:nvSpPr>
          <p:cNvPr id="148" name="Shape 21"/>
          <p:cNvSpPr/>
          <p:nvPr/>
        </p:nvSpPr>
        <p:spPr>
          <a:xfrm>
            <a:off x="4571999" y="2240279"/>
            <a:ext cx="4389122" cy="420625"/>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149" name="Shape 22"/>
          <p:cNvSpPr/>
          <p:nvPr/>
        </p:nvSpPr>
        <p:spPr>
          <a:xfrm>
            <a:off x="4572000" y="2240279"/>
            <a:ext cx="54864" cy="420625"/>
          </a:xfrm>
          <a:prstGeom prst="rect">
            <a:avLst/>
          </a:prstGeom>
          <a:solidFill>
            <a:srgbClr val="0891B2"/>
          </a:solidFill>
          <a:ln w="12700">
            <a:solidFill>
              <a:srgbClr val="0891B2"/>
            </a:solidFill>
          </a:ln>
        </p:spPr>
        <p:txBody>
          <a:bodyPr lIns="45719" rIns="45719"/>
          <a:lstStyle/>
          <a:p>
            <a:endParaRPr/>
          </a:p>
        </p:txBody>
      </p:sp>
      <p:sp>
        <p:nvSpPr>
          <p:cNvPr id="150" name="Text 23"/>
          <p:cNvSpPr txBox="1"/>
          <p:nvPr/>
        </p:nvSpPr>
        <p:spPr>
          <a:xfrm>
            <a:off x="4663440" y="2286507"/>
            <a:ext cx="13716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b="1">
                <a:solidFill>
                  <a:srgbClr val="0891B2"/>
                </a:solidFill>
              </a:defRPr>
            </a:lvl1pPr>
          </a:lstStyle>
          <a:p>
            <a:r>
              <a:t>OrderDetail</a:t>
            </a:r>
          </a:p>
        </p:txBody>
      </p:sp>
      <p:sp>
        <p:nvSpPr>
          <p:cNvPr id="151" name="Text 24"/>
          <p:cNvSpPr txBox="1"/>
          <p:nvPr/>
        </p:nvSpPr>
        <p:spPr>
          <a:xfrm>
            <a:off x="4663440" y="2460244"/>
            <a:ext cx="420624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374151"/>
                </a:solidFill>
              </a:defRPr>
            </a:lvl1pPr>
          </a:lstStyle>
          <a:p>
            <a:r>
              <a:t>Links an Item to an Order with quantity and tax status</a:t>
            </a:r>
          </a:p>
        </p:txBody>
      </p:sp>
      <p:sp>
        <p:nvSpPr>
          <p:cNvPr id="152" name="Shape 25"/>
          <p:cNvSpPr/>
          <p:nvPr/>
        </p:nvSpPr>
        <p:spPr>
          <a:xfrm>
            <a:off x="4571999" y="2743200"/>
            <a:ext cx="4389122" cy="420624"/>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153" name="Shape 26"/>
          <p:cNvSpPr/>
          <p:nvPr/>
        </p:nvSpPr>
        <p:spPr>
          <a:xfrm>
            <a:off x="4572000" y="2743200"/>
            <a:ext cx="54864" cy="420624"/>
          </a:xfrm>
          <a:prstGeom prst="rect">
            <a:avLst/>
          </a:prstGeom>
          <a:solidFill>
            <a:srgbClr val="D97706"/>
          </a:solidFill>
          <a:ln w="12700">
            <a:solidFill>
              <a:srgbClr val="D97706"/>
            </a:solidFill>
          </a:ln>
        </p:spPr>
        <p:txBody>
          <a:bodyPr lIns="45719" rIns="45719"/>
          <a:lstStyle/>
          <a:p>
            <a:endParaRPr/>
          </a:p>
        </p:txBody>
      </p:sp>
      <p:sp>
        <p:nvSpPr>
          <p:cNvPr id="154" name="Text 27"/>
          <p:cNvSpPr txBox="1"/>
          <p:nvPr/>
        </p:nvSpPr>
        <p:spPr>
          <a:xfrm>
            <a:off x="4663440" y="2789428"/>
            <a:ext cx="13716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b="1">
                <a:solidFill>
                  <a:srgbClr val="D97706"/>
                </a:solidFill>
              </a:defRPr>
            </a:lvl1pPr>
          </a:lstStyle>
          <a:p>
            <a:r>
              <a:t>Item</a:t>
            </a:r>
          </a:p>
        </p:txBody>
      </p:sp>
      <p:sp>
        <p:nvSpPr>
          <p:cNvPr id="155" name="Text 28"/>
          <p:cNvSpPr txBox="1"/>
          <p:nvPr/>
        </p:nvSpPr>
        <p:spPr>
          <a:xfrm>
            <a:off x="4663440" y="2963163"/>
            <a:ext cx="420624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374151"/>
                </a:solidFill>
              </a:defRPr>
            </a:lvl1pPr>
          </a:lstStyle>
          <a:p>
            <a:r>
              <a:t>Product details — weight, price, stock; checks availability</a:t>
            </a:r>
          </a:p>
        </p:txBody>
      </p:sp>
      <p:sp>
        <p:nvSpPr>
          <p:cNvPr id="156" name="Shape 29"/>
          <p:cNvSpPr/>
          <p:nvPr/>
        </p:nvSpPr>
        <p:spPr>
          <a:xfrm>
            <a:off x="4571999" y="3246120"/>
            <a:ext cx="4389122" cy="420625"/>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157" name="Shape 30"/>
          <p:cNvSpPr/>
          <p:nvPr/>
        </p:nvSpPr>
        <p:spPr>
          <a:xfrm>
            <a:off x="4572000" y="3246120"/>
            <a:ext cx="54864" cy="420625"/>
          </a:xfrm>
          <a:prstGeom prst="rect">
            <a:avLst/>
          </a:prstGeom>
          <a:solidFill>
            <a:srgbClr val="7C3AED"/>
          </a:solidFill>
          <a:ln w="12700">
            <a:solidFill>
              <a:srgbClr val="7C3AED"/>
            </a:solidFill>
          </a:ln>
        </p:spPr>
        <p:txBody>
          <a:bodyPr lIns="45719" rIns="45719"/>
          <a:lstStyle/>
          <a:p>
            <a:endParaRPr/>
          </a:p>
        </p:txBody>
      </p:sp>
      <p:sp>
        <p:nvSpPr>
          <p:cNvPr id="158" name="Text 31"/>
          <p:cNvSpPr txBox="1"/>
          <p:nvPr/>
        </p:nvSpPr>
        <p:spPr>
          <a:xfrm>
            <a:off x="4663440" y="3292348"/>
            <a:ext cx="13716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b="1">
                <a:solidFill>
                  <a:srgbClr val="7C3AED"/>
                </a:solidFill>
              </a:defRPr>
            </a:lvl1pPr>
          </a:lstStyle>
          <a:p>
            <a:r>
              <a:t>Payment (abstract)</a:t>
            </a:r>
          </a:p>
        </p:txBody>
      </p:sp>
      <p:sp>
        <p:nvSpPr>
          <p:cNvPr id="159" name="Text 32"/>
          <p:cNvSpPr txBox="1"/>
          <p:nvPr/>
        </p:nvSpPr>
        <p:spPr>
          <a:xfrm>
            <a:off x="4663440" y="3466083"/>
            <a:ext cx="420624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374151"/>
                </a:solidFill>
              </a:defRPr>
            </a:lvl1pPr>
          </a:lstStyle>
          <a:p>
            <a:r>
              <a:t>Base class — enforces that only Cash, Check or Credit are used</a:t>
            </a:r>
          </a:p>
        </p:txBody>
      </p:sp>
      <p:sp>
        <p:nvSpPr>
          <p:cNvPr id="160" name="Shape 33"/>
          <p:cNvSpPr/>
          <p:nvPr/>
        </p:nvSpPr>
        <p:spPr>
          <a:xfrm>
            <a:off x="4571999" y="3749040"/>
            <a:ext cx="4389122" cy="420625"/>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161" name="Shape 34"/>
          <p:cNvSpPr/>
          <p:nvPr/>
        </p:nvSpPr>
        <p:spPr>
          <a:xfrm>
            <a:off x="4572000" y="3749040"/>
            <a:ext cx="54864" cy="420625"/>
          </a:xfrm>
          <a:prstGeom prst="rect">
            <a:avLst/>
          </a:prstGeom>
          <a:solidFill>
            <a:srgbClr val="1E2761"/>
          </a:solidFill>
          <a:ln w="12700">
            <a:solidFill>
              <a:srgbClr val="1E2761"/>
            </a:solidFill>
          </a:ln>
        </p:spPr>
        <p:txBody>
          <a:bodyPr lIns="45719" rIns="45719"/>
          <a:lstStyle/>
          <a:p>
            <a:endParaRPr/>
          </a:p>
        </p:txBody>
      </p:sp>
      <p:sp>
        <p:nvSpPr>
          <p:cNvPr id="162" name="Text 35"/>
          <p:cNvSpPr txBox="1"/>
          <p:nvPr/>
        </p:nvSpPr>
        <p:spPr>
          <a:xfrm>
            <a:off x="4663440" y="3795268"/>
            <a:ext cx="13716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b="1">
                <a:solidFill>
                  <a:srgbClr val="1E2761"/>
                </a:solidFill>
              </a:defRPr>
            </a:lvl1pPr>
          </a:lstStyle>
          <a:p>
            <a:r>
              <a:t>Cash / Check / Credit</a:t>
            </a:r>
          </a:p>
        </p:txBody>
      </p:sp>
      <p:sp>
        <p:nvSpPr>
          <p:cNvPr id="163" name="Text 36"/>
          <p:cNvSpPr txBox="1"/>
          <p:nvPr/>
        </p:nvSpPr>
        <p:spPr>
          <a:xfrm>
            <a:off x="4663440" y="3969004"/>
            <a:ext cx="420624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374151"/>
                </a:solidFill>
              </a:defRPr>
            </a:lvl1pPr>
          </a:lstStyle>
          <a:p>
            <a:r>
              <a:t>Concrete payment types — each has its own authorization logic</a:t>
            </a:r>
          </a:p>
        </p:txBody>
      </p:sp>
      <p:sp>
        <p:nvSpPr>
          <p:cNvPr id="164" name="Text 37"/>
          <p:cNvSpPr txBox="1"/>
          <p:nvPr/>
        </p:nvSpPr>
        <p:spPr>
          <a:xfrm>
            <a:off x="210311" y="4366621"/>
            <a:ext cx="877824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i="1">
                <a:solidFill>
                  <a:srgbClr val="1E2761"/>
                </a:solidFill>
              </a:defRPr>
            </a:lvl1pPr>
          </a:lstStyle>
          <a:p>
            <a:r>
              <a:t>Key OOP Principles Applied: Inheritance (Payment hierarchy)  •  Encapsulation (private fields)  •  Polymorphism (authorized() method)</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4B"/>
        </a:solidFill>
        <a:effectLst/>
      </p:bgPr>
    </p:bg>
    <p:spTree>
      <p:nvGrpSpPr>
        <p:cNvPr id="1" name=""/>
        <p:cNvGrpSpPr/>
        <p:nvPr/>
      </p:nvGrpSpPr>
      <p:grpSpPr>
        <a:xfrm>
          <a:off x="0" y="0"/>
          <a:ext cx="0" cy="0"/>
          <a:chOff x="0" y="0"/>
          <a:chExt cx="0" cy="0"/>
        </a:xfrm>
      </p:grpSpPr>
      <p:sp>
        <p:nvSpPr>
          <p:cNvPr id="166" name="Shape 0"/>
          <p:cNvSpPr/>
          <p:nvPr/>
        </p:nvSpPr>
        <p:spPr>
          <a:xfrm>
            <a:off x="0" y="-1"/>
            <a:ext cx="9144000" cy="73154"/>
          </a:xfrm>
          <a:prstGeom prst="rect">
            <a:avLst/>
          </a:prstGeom>
          <a:solidFill>
            <a:srgbClr val="4FC3F7"/>
          </a:solidFill>
          <a:ln w="12700">
            <a:solidFill>
              <a:srgbClr val="4FC3F7"/>
            </a:solidFill>
          </a:ln>
        </p:spPr>
        <p:txBody>
          <a:bodyPr lIns="45719" rIns="45719"/>
          <a:lstStyle/>
          <a:p>
            <a:endParaRPr/>
          </a:p>
        </p:txBody>
      </p:sp>
      <p:sp>
        <p:nvSpPr>
          <p:cNvPr id="167" name="Text 1"/>
          <p:cNvSpPr txBox="1"/>
          <p:nvPr/>
        </p:nvSpPr>
        <p:spPr>
          <a:xfrm>
            <a:off x="365759" y="233532"/>
            <a:ext cx="8412482" cy="3010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400" b="1">
                <a:solidFill>
                  <a:srgbClr val="FFFFFF"/>
                </a:solidFill>
              </a:defRPr>
            </a:lvl1pPr>
          </a:lstStyle>
          <a:p>
            <a:r>
              <a:t>2: Version Control — Git &amp; GitHub</a:t>
            </a:r>
          </a:p>
        </p:txBody>
      </p:sp>
      <p:sp>
        <p:nvSpPr>
          <p:cNvPr id="168" name="Text 2"/>
          <p:cNvSpPr txBox="1"/>
          <p:nvPr/>
        </p:nvSpPr>
        <p:spPr>
          <a:xfrm>
            <a:off x="365759" y="700962"/>
            <a:ext cx="8412482"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4FC3F7"/>
                </a:solidFill>
              </a:defRPr>
            </a:lvl1pPr>
          </a:lstStyle>
          <a:p>
            <a:r>
              <a:t>Why Git Flow? How is the repository structured?</a:t>
            </a:r>
          </a:p>
        </p:txBody>
      </p:sp>
      <p:sp>
        <p:nvSpPr>
          <p:cNvPr id="169" name="Text 3"/>
          <p:cNvSpPr txBox="1"/>
          <p:nvPr/>
        </p:nvSpPr>
        <p:spPr>
          <a:xfrm>
            <a:off x="274320" y="1009703"/>
            <a:ext cx="4114801"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a:solidFill>
                  <a:srgbClr val="4FC3F7"/>
                </a:solidFill>
              </a:defRPr>
            </a:lvl1pPr>
          </a:lstStyle>
          <a:p>
            <a:r>
              <a:t>Why Git?</a:t>
            </a:r>
          </a:p>
        </p:txBody>
      </p:sp>
      <p:sp>
        <p:nvSpPr>
          <p:cNvPr id="170" name="Text 4"/>
          <p:cNvSpPr txBox="1"/>
          <p:nvPr/>
        </p:nvSpPr>
        <p:spPr>
          <a:xfrm>
            <a:off x="274320" y="1324269"/>
            <a:ext cx="4114801" cy="5335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Git is the industry-standard distributed version control system. It allows every team member to work on separate branches simultaneously without overwriting each other's code. Changes are tracked, reversible, and reviewable — essential for team-based software development.</a:t>
            </a:r>
          </a:p>
        </p:txBody>
      </p:sp>
      <p:sp>
        <p:nvSpPr>
          <p:cNvPr id="171" name="Text 5"/>
          <p:cNvSpPr txBox="1"/>
          <p:nvPr/>
        </p:nvSpPr>
        <p:spPr>
          <a:xfrm>
            <a:off x="274320" y="2061263"/>
            <a:ext cx="4114801"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a:solidFill>
                  <a:srgbClr val="4FC3F7"/>
                </a:solidFill>
              </a:defRPr>
            </a:lvl1pPr>
          </a:lstStyle>
          <a:p>
            <a:r>
              <a:t>Why GitHub?</a:t>
            </a:r>
          </a:p>
        </p:txBody>
      </p:sp>
      <p:sp>
        <p:nvSpPr>
          <p:cNvPr id="172" name="Text 6"/>
          <p:cNvSpPr txBox="1"/>
          <p:nvPr/>
        </p:nvSpPr>
        <p:spPr>
          <a:xfrm>
            <a:off x="274320" y="2418247"/>
            <a:ext cx="4114801" cy="3938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GitHub serves as the central remote repository accessible to all team members. It provides Pull Requests for code review before merging, branch protection on main, and visual history of all commits and tags — making collaboration transparent and auditable.</a:t>
            </a:r>
          </a:p>
        </p:txBody>
      </p:sp>
      <p:sp>
        <p:nvSpPr>
          <p:cNvPr id="173" name="Text 7"/>
          <p:cNvSpPr txBox="1"/>
          <p:nvPr/>
        </p:nvSpPr>
        <p:spPr>
          <a:xfrm>
            <a:off x="4571999" y="1009703"/>
            <a:ext cx="4389122"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a:solidFill>
                  <a:srgbClr val="4FC3F7"/>
                </a:solidFill>
              </a:defRPr>
            </a:lvl1pPr>
          </a:lstStyle>
          <a:p>
            <a:r>
              <a:t>Git Flow Branching Strategy</a:t>
            </a:r>
          </a:p>
        </p:txBody>
      </p:sp>
      <p:sp>
        <p:nvSpPr>
          <p:cNvPr id="174" name="Shape 8"/>
          <p:cNvSpPr/>
          <p:nvPr/>
        </p:nvSpPr>
        <p:spPr>
          <a:xfrm>
            <a:off x="4571999" y="1261872"/>
            <a:ext cx="4389122" cy="347473"/>
          </a:xfrm>
          <a:prstGeom prst="rect">
            <a:avLst/>
          </a:prstGeom>
          <a:solidFill>
            <a:srgbClr val="0F2557"/>
          </a:solidFill>
          <a:ln w="15240">
            <a:solidFill>
              <a:srgbClr val="D97706"/>
            </a:solidFill>
          </a:ln>
        </p:spPr>
        <p:txBody>
          <a:bodyPr lIns="45719" rIns="45719"/>
          <a:lstStyle/>
          <a:p>
            <a:endParaRPr/>
          </a:p>
        </p:txBody>
      </p:sp>
      <p:sp>
        <p:nvSpPr>
          <p:cNvPr id="175" name="Shape 9"/>
          <p:cNvSpPr/>
          <p:nvPr/>
        </p:nvSpPr>
        <p:spPr>
          <a:xfrm>
            <a:off x="4572000" y="1261872"/>
            <a:ext cx="54864" cy="347473"/>
          </a:xfrm>
          <a:prstGeom prst="rect">
            <a:avLst/>
          </a:prstGeom>
          <a:solidFill>
            <a:srgbClr val="D97706"/>
          </a:solidFill>
          <a:ln w="12700">
            <a:solidFill>
              <a:srgbClr val="D97706"/>
            </a:solidFill>
          </a:ln>
        </p:spPr>
        <p:txBody>
          <a:bodyPr lIns="45719" rIns="45719"/>
          <a:lstStyle/>
          <a:p>
            <a:endParaRPr/>
          </a:p>
        </p:txBody>
      </p:sp>
      <p:sp>
        <p:nvSpPr>
          <p:cNvPr id="176" name="Text 10"/>
          <p:cNvSpPr txBox="1"/>
          <p:nvPr/>
        </p:nvSpPr>
        <p:spPr>
          <a:xfrm>
            <a:off x="4663440" y="1308100"/>
            <a:ext cx="21945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D97706"/>
                </a:solidFill>
                <a:latin typeface="Consolas"/>
                <a:ea typeface="Consolas"/>
                <a:cs typeface="Consolas"/>
                <a:sym typeface="Consolas"/>
              </a:defRPr>
            </a:lvl1pPr>
          </a:lstStyle>
          <a:p>
            <a:r>
              <a:t>main</a:t>
            </a:r>
          </a:p>
        </p:txBody>
      </p:sp>
      <p:sp>
        <p:nvSpPr>
          <p:cNvPr id="177" name="Text 11"/>
          <p:cNvSpPr txBox="1"/>
          <p:nvPr/>
        </p:nvSpPr>
        <p:spPr>
          <a:xfrm>
            <a:off x="4663440" y="1454404"/>
            <a:ext cx="27432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a:solidFill>
                  <a:srgbClr val="CADCFC"/>
                </a:solidFill>
              </a:defRPr>
            </a:lvl1pPr>
          </a:lstStyle>
          <a:p>
            <a:r>
              <a:t>Protected — only stable, tested releases merged here</a:t>
            </a:r>
          </a:p>
        </p:txBody>
      </p:sp>
      <p:sp>
        <p:nvSpPr>
          <p:cNvPr id="178" name="Shape 12"/>
          <p:cNvSpPr/>
          <p:nvPr/>
        </p:nvSpPr>
        <p:spPr>
          <a:xfrm>
            <a:off x="7955280" y="1298447"/>
            <a:ext cx="868681" cy="256033"/>
          </a:xfrm>
          <a:prstGeom prst="rect">
            <a:avLst/>
          </a:prstGeom>
          <a:solidFill>
            <a:srgbClr val="D97706"/>
          </a:solidFill>
          <a:ln w="12700">
            <a:solidFill>
              <a:srgbClr val="D97706"/>
            </a:solidFill>
          </a:ln>
        </p:spPr>
        <p:txBody>
          <a:bodyPr lIns="45719" rIns="45719"/>
          <a:lstStyle/>
          <a:p>
            <a:endParaRPr/>
          </a:p>
        </p:txBody>
      </p:sp>
      <p:sp>
        <p:nvSpPr>
          <p:cNvPr id="179" name="Text 13"/>
          <p:cNvSpPr txBox="1"/>
          <p:nvPr/>
        </p:nvSpPr>
        <p:spPr>
          <a:xfrm>
            <a:off x="7955280" y="1343913"/>
            <a:ext cx="868681" cy="165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b="1">
                <a:solidFill>
                  <a:srgbClr val="FFFFFF"/>
                </a:solidFill>
              </a:defRPr>
            </a:lvl1pPr>
          </a:lstStyle>
          <a:p>
            <a:r>
              <a:t>🏷 v1.0.0</a:t>
            </a:r>
          </a:p>
        </p:txBody>
      </p:sp>
      <p:sp>
        <p:nvSpPr>
          <p:cNvPr id="180" name="Shape 14"/>
          <p:cNvSpPr/>
          <p:nvPr/>
        </p:nvSpPr>
        <p:spPr>
          <a:xfrm>
            <a:off x="4571999" y="1682495"/>
            <a:ext cx="4389122" cy="347473"/>
          </a:xfrm>
          <a:prstGeom prst="rect">
            <a:avLst/>
          </a:prstGeom>
          <a:solidFill>
            <a:srgbClr val="0F2557"/>
          </a:solidFill>
          <a:ln w="15240">
            <a:solidFill>
              <a:srgbClr val="3B82F6"/>
            </a:solidFill>
          </a:ln>
        </p:spPr>
        <p:txBody>
          <a:bodyPr lIns="45719" rIns="45719"/>
          <a:lstStyle/>
          <a:p>
            <a:endParaRPr/>
          </a:p>
        </p:txBody>
      </p:sp>
      <p:sp>
        <p:nvSpPr>
          <p:cNvPr id="181" name="Shape 15"/>
          <p:cNvSpPr/>
          <p:nvPr/>
        </p:nvSpPr>
        <p:spPr>
          <a:xfrm>
            <a:off x="4572000" y="1682495"/>
            <a:ext cx="54864" cy="347473"/>
          </a:xfrm>
          <a:prstGeom prst="rect">
            <a:avLst/>
          </a:prstGeom>
          <a:solidFill>
            <a:srgbClr val="3B82F6"/>
          </a:solidFill>
          <a:ln w="12700">
            <a:solidFill>
              <a:srgbClr val="3B82F6"/>
            </a:solidFill>
          </a:ln>
        </p:spPr>
        <p:txBody>
          <a:bodyPr lIns="45719" rIns="45719"/>
          <a:lstStyle/>
          <a:p>
            <a:endParaRPr/>
          </a:p>
        </p:txBody>
      </p:sp>
      <p:sp>
        <p:nvSpPr>
          <p:cNvPr id="182" name="Text 16"/>
          <p:cNvSpPr txBox="1"/>
          <p:nvPr/>
        </p:nvSpPr>
        <p:spPr>
          <a:xfrm>
            <a:off x="4663440" y="1728723"/>
            <a:ext cx="21945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3B82F6"/>
                </a:solidFill>
                <a:latin typeface="Consolas"/>
                <a:ea typeface="Consolas"/>
                <a:cs typeface="Consolas"/>
                <a:sym typeface="Consolas"/>
              </a:defRPr>
            </a:lvl1pPr>
          </a:lstStyle>
          <a:p>
            <a:r>
              <a:t>develop</a:t>
            </a:r>
          </a:p>
        </p:txBody>
      </p:sp>
      <p:sp>
        <p:nvSpPr>
          <p:cNvPr id="183" name="Text 17"/>
          <p:cNvSpPr txBox="1"/>
          <p:nvPr/>
        </p:nvSpPr>
        <p:spPr>
          <a:xfrm>
            <a:off x="4663440" y="1875028"/>
            <a:ext cx="27432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a:solidFill>
                  <a:srgbClr val="CADCFC"/>
                </a:solidFill>
              </a:defRPr>
            </a:lvl1pPr>
          </a:lstStyle>
          <a:p>
            <a:r>
              <a:t>Integration branch — all feature PRs target here first</a:t>
            </a:r>
          </a:p>
        </p:txBody>
      </p:sp>
      <p:sp>
        <p:nvSpPr>
          <p:cNvPr id="184" name="Shape 18"/>
          <p:cNvSpPr/>
          <p:nvPr/>
        </p:nvSpPr>
        <p:spPr>
          <a:xfrm>
            <a:off x="4937759" y="2103120"/>
            <a:ext cx="4023360" cy="347473"/>
          </a:xfrm>
          <a:prstGeom prst="rect">
            <a:avLst/>
          </a:prstGeom>
          <a:solidFill>
            <a:srgbClr val="0F2557"/>
          </a:solidFill>
          <a:ln w="15240">
            <a:solidFill>
              <a:srgbClr val="16A34A"/>
            </a:solidFill>
          </a:ln>
        </p:spPr>
        <p:txBody>
          <a:bodyPr lIns="45719" rIns="45719"/>
          <a:lstStyle/>
          <a:p>
            <a:endParaRPr/>
          </a:p>
        </p:txBody>
      </p:sp>
      <p:sp>
        <p:nvSpPr>
          <p:cNvPr id="185" name="Shape 19"/>
          <p:cNvSpPr/>
          <p:nvPr/>
        </p:nvSpPr>
        <p:spPr>
          <a:xfrm>
            <a:off x="4937759" y="2103120"/>
            <a:ext cx="54865" cy="347473"/>
          </a:xfrm>
          <a:prstGeom prst="rect">
            <a:avLst/>
          </a:prstGeom>
          <a:solidFill>
            <a:srgbClr val="16A34A"/>
          </a:solidFill>
          <a:ln w="12700">
            <a:solidFill>
              <a:srgbClr val="16A34A"/>
            </a:solidFill>
          </a:ln>
        </p:spPr>
        <p:txBody>
          <a:bodyPr lIns="45719" rIns="45719"/>
          <a:lstStyle/>
          <a:p>
            <a:endParaRPr/>
          </a:p>
        </p:txBody>
      </p:sp>
      <p:sp>
        <p:nvSpPr>
          <p:cNvPr id="186" name="Text 20"/>
          <p:cNvSpPr txBox="1"/>
          <p:nvPr/>
        </p:nvSpPr>
        <p:spPr>
          <a:xfrm>
            <a:off x="5029199" y="2149347"/>
            <a:ext cx="21945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16A34A"/>
                </a:solidFill>
                <a:latin typeface="Consolas"/>
                <a:ea typeface="Consolas"/>
                <a:cs typeface="Consolas"/>
                <a:sym typeface="Consolas"/>
              </a:defRPr>
            </a:lvl1pPr>
          </a:lstStyle>
          <a:p>
            <a:r>
              <a:t>feature/customer-model</a:t>
            </a:r>
          </a:p>
        </p:txBody>
      </p:sp>
      <p:sp>
        <p:nvSpPr>
          <p:cNvPr id="187" name="Text 21"/>
          <p:cNvSpPr txBox="1"/>
          <p:nvPr/>
        </p:nvSpPr>
        <p:spPr>
          <a:xfrm>
            <a:off x="5029200" y="2295651"/>
            <a:ext cx="274320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a:solidFill>
                  <a:srgbClr val="CADCFC"/>
                </a:solidFill>
              </a:defRPr>
            </a:lvl1pPr>
          </a:lstStyle>
          <a:p>
            <a:r>
              <a:t>Member 1 — Customer.java</a:t>
            </a:r>
          </a:p>
        </p:txBody>
      </p:sp>
      <p:sp>
        <p:nvSpPr>
          <p:cNvPr id="188" name="Shape 22"/>
          <p:cNvSpPr/>
          <p:nvPr/>
        </p:nvSpPr>
        <p:spPr>
          <a:xfrm>
            <a:off x="4937759" y="2523744"/>
            <a:ext cx="4023360" cy="347473"/>
          </a:xfrm>
          <a:prstGeom prst="rect">
            <a:avLst/>
          </a:prstGeom>
          <a:solidFill>
            <a:srgbClr val="0F2557"/>
          </a:solidFill>
          <a:ln w="15240">
            <a:solidFill>
              <a:srgbClr val="16A34A"/>
            </a:solidFill>
          </a:ln>
        </p:spPr>
        <p:txBody>
          <a:bodyPr lIns="45719" rIns="45719"/>
          <a:lstStyle/>
          <a:p>
            <a:endParaRPr/>
          </a:p>
        </p:txBody>
      </p:sp>
      <p:sp>
        <p:nvSpPr>
          <p:cNvPr id="189" name="Shape 23"/>
          <p:cNvSpPr/>
          <p:nvPr/>
        </p:nvSpPr>
        <p:spPr>
          <a:xfrm>
            <a:off x="4937759" y="2523744"/>
            <a:ext cx="54865" cy="347473"/>
          </a:xfrm>
          <a:prstGeom prst="rect">
            <a:avLst/>
          </a:prstGeom>
          <a:solidFill>
            <a:srgbClr val="16A34A"/>
          </a:solidFill>
          <a:ln w="12700">
            <a:solidFill>
              <a:srgbClr val="16A34A"/>
            </a:solidFill>
          </a:ln>
        </p:spPr>
        <p:txBody>
          <a:bodyPr lIns="45719" rIns="45719"/>
          <a:lstStyle/>
          <a:p>
            <a:endParaRPr/>
          </a:p>
        </p:txBody>
      </p:sp>
      <p:sp>
        <p:nvSpPr>
          <p:cNvPr id="190" name="Text 24"/>
          <p:cNvSpPr txBox="1"/>
          <p:nvPr/>
        </p:nvSpPr>
        <p:spPr>
          <a:xfrm>
            <a:off x="5029199" y="2569972"/>
            <a:ext cx="21945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16A34A"/>
                </a:solidFill>
                <a:latin typeface="Consolas"/>
                <a:ea typeface="Consolas"/>
                <a:cs typeface="Consolas"/>
                <a:sym typeface="Consolas"/>
              </a:defRPr>
            </a:lvl1pPr>
          </a:lstStyle>
          <a:p>
            <a:r>
              <a:t>feature/order-model</a:t>
            </a:r>
          </a:p>
        </p:txBody>
      </p:sp>
      <p:sp>
        <p:nvSpPr>
          <p:cNvPr id="191" name="Text 25"/>
          <p:cNvSpPr txBox="1"/>
          <p:nvPr/>
        </p:nvSpPr>
        <p:spPr>
          <a:xfrm>
            <a:off x="5029200" y="2716275"/>
            <a:ext cx="274320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a:solidFill>
                  <a:srgbClr val="CADCFC"/>
                </a:solidFill>
              </a:defRPr>
            </a:lvl1pPr>
          </a:lstStyle>
          <a:p>
            <a:r>
              <a:t>Member 2 — Order + OrderDetail</a:t>
            </a:r>
          </a:p>
        </p:txBody>
      </p:sp>
      <p:sp>
        <p:nvSpPr>
          <p:cNvPr id="192" name="Shape 26"/>
          <p:cNvSpPr/>
          <p:nvPr/>
        </p:nvSpPr>
        <p:spPr>
          <a:xfrm>
            <a:off x="4937759" y="2944367"/>
            <a:ext cx="4023360" cy="347473"/>
          </a:xfrm>
          <a:prstGeom prst="rect">
            <a:avLst/>
          </a:prstGeom>
          <a:solidFill>
            <a:srgbClr val="0F2557"/>
          </a:solidFill>
          <a:ln w="15240">
            <a:solidFill>
              <a:srgbClr val="16A34A"/>
            </a:solidFill>
          </a:ln>
        </p:spPr>
        <p:txBody>
          <a:bodyPr lIns="45719" rIns="45719"/>
          <a:lstStyle/>
          <a:p>
            <a:endParaRPr/>
          </a:p>
        </p:txBody>
      </p:sp>
      <p:sp>
        <p:nvSpPr>
          <p:cNvPr id="193" name="Shape 27"/>
          <p:cNvSpPr/>
          <p:nvPr/>
        </p:nvSpPr>
        <p:spPr>
          <a:xfrm>
            <a:off x="4937759" y="2944367"/>
            <a:ext cx="54865" cy="347473"/>
          </a:xfrm>
          <a:prstGeom prst="rect">
            <a:avLst/>
          </a:prstGeom>
          <a:solidFill>
            <a:srgbClr val="16A34A"/>
          </a:solidFill>
          <a:ln w="12700">
            <a:solidFill>
              <a:srgbClr val="16A34A"/>
            </a:solidFill>
          </a:ln>
        </p:spPr>
        <p:txBody>
          <a:bodyPr lIns="45719" rIns="45719"/>
          <a:lstStyle/>
          <a:p>
            <a:endParaRPr/>
          </a:p>
        </p:txBody>
      </p:sp>
      <p:sp>
        <p:nvSpPr>
          <p:cNvPr id="194" name="Text 28"/>
          <p:cNvSpPr txBox="1"/>
          <p:nvPr/>
        </p:nvSpPr>
        <p:spPr>
          <a:xfrm>
            <a:off x="5029199" y="2990595"/>
            <a:ext cx="21945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16A34A"/>
                </a:solidFill>
                <a:latin typeface="Consolas"/>
                <a:ea typeface="Consolas"/>
                <a:cs typeface="Consolas"/>
                <a:sym typeface="Consolas"/>
              </a:defRPr>
            </a:lvl1pPr>
          </a:lstStyle>
          <a:p>
            <a:r>
              <a:t>feature/item-model</a:t>
            </a:r>
          </a:p>
        </p:txBody>
      </p:sp>
      <p:sp>
        <p:nvSpPr>
          <p:cNvPr id="195" name="Text 29"/>
          <p:cNvSpPr txBox="1"/>
          <p:nvPr/>
        </p:nvSpPr>
        <p:spPr>
          <a:xfrm>
            <a:off x="5029200" y="3136900"/>
            <a:ext cx="274320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a:solidFill>
                  <a:srgbClr val="CADCFC"/>
                </a:solidFill>
              </a:defRPr>
            </a:lvl1pPr>
          </a:lstStyle>
          <a:p>
            <a:r>
              <a:t>Member 3 — Item.java</a:t>
            </a:r>
          </a:p>
        </p:txBody>
      </p:sp>
      <p:sp>
        <p:nvSpPr>
          <p:cNvPr id="196" name="Shape 30"/>
          <p:cNvSpPr/>
          <p:nvPr/>
        </p:nvSpPr>
        <p:spPr>
          <a:xfrm>
            <a:off x="4937759" y="3364991"/>
            <a:ext cx="4023360" cy="347473"/>
          </a:xfrm>
          <a:prstGeom prst="rect">
            <a:avLst/>
          </a:prstGeom>
          <a:solidFill>
            <a:srgbClr val="0F2557"/>
          </a:solidFill>
          <a:ln w="15240">
            <a:solidFill>
              <a:srgbClr val="16A34A"/>
            </a:solidFill>
          </a:ln>
        </p:spPr>
        <p:txBody>
          <a:bodyPr lIns="45719" rIns="45719"/>
          <a:lstStyle/>
          <a:p>
            <a:endParaRPr/>
          </a:p>
        </p:txBody>
      </p:sp>
      <p:sp>
        <p:nvSpPr>
          <p:cNvPr id="197" name="Shape 31"/>
          <p:cNvSpPr/>
          <p:nvPr/>
        </p:nvSpPr>
        <p:spPr>
          <a:xfrm>
            <a:off x="4937759" y="3364991"/>
            <a:ext cx="54865" cy="347473"/>
          </a:xfrm>
          <a:prstGeom prst="rect">
            <a:avLst/>
          </a:prstGeom>
          <a:solidFill>
            <a:srgbClr val="16A34A"/>
          </a:solidFill>
          <a:ln w="12700">
            <a:solidFill>
              <a:srgbClr val="16A34A"/>
            </a:solidFill>
          </a:ln>
        </p:spPr>
        <p:txBody>
          <a:bodyPr lIns="45719" rIns="45719"/>
          <a:lstStyle/>
          <a:p>
            <a:endParaRPr/>
          </a:p>
        </p:txBody>
      </p:sp>
      <p:sp>
        <p:nvSpPr>
          <p:cNvPr id="198" name="Text 32"/>
          <p:cNvSpPr txBox="1"/>
          <p:nvPr/>
        </p:nvSpPr>
        <p:spPr>
          <a:xfrm>
            <a:off x="5029199" y="3411219"/>
            <a:ext cx="21945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16A34A"/>
                </a:solidFill>
                <a:latin typeface="Consolas"/>
                <a:ea typeface="Consolas"/>
                <a:cs typeface="Consolas"/>
                <a:sym typeface="Consolas"/>
              </a:defRPr>
            </a:lvl1pPr>
          </a:lstStyle>
          <a:p>
            <a:r>
              <a:t>feature/payment-model</a:t>
            </a:r>
          </a:p>
        </p:txBody>
      </p:sp>
      <p:sp>
        <p:nvSpPr>
          <p:cNvPr id="199" name="Text 33"/>
          <p:cNvSpPr txBox="1"/>
          <p:nvPr/>
        </p:nvSpPr>
        <p:spPr>
          <a:xfrm>
            <a:off x="5029200" y="3557523"/>
            <a:ext cx="274320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a:solidFill>
                  <a:srgbClr val="CADCFC"/>
                </a:solidFill>
              </a:defRPr>
            </a:lvl1pPr>
          </a:lstStyle>
          <a:p>
            <a:r>
              <a:t>Member 4 — Payment hierarchy</a:t>
            </a:r>
          </a:p>
        </p:txBody>
      </p:sp>
      <p:sp>
        <p:nvSpPr>
          <p:cNvPr id="200" name="Shape 34"/>
          <p:cNvSpPr/>
          <p:nvPr/>
        </p:nvSpPr>
        <p:spPr>
          <a:xfrm>
            <a:off x="4937759" y="3785615"/>
            <a:ext cx="4023360" cy="347473"/>
          </a:xfrm>
          <a:prstGeom prst="rect">
            <a:avLst/>
          </a:prstGeom>
          <a:solidFill>
            <a:srgbClr val="0F2557"/>
          </a:solidFill>
          <a:ln w="15240">
            <a:solidFill>
              <a:srgbClr val="16A34A"/>
            </a:solidFill>
          </a:ln>
        </p:spPr>
        <p:txBody>
          <a:bodyPr lIns="45719" rIns="45719"/>
          <a:lstStyle/>
          <a:p>
            <a:endParaRPr/>
          </a:p>
        </p:txBody>
      </p:sp>
      <p:sp>
        <p:nvSpPr>
          <p:cNvPr id="201" name="Shape 35"/>
          <p:cNvSpPr/>
          <p:nvPr/>
        </p:nvSpPr>
        <p:spPr>
          <a:xfrm>
            <a:off x="4937759" y="3785615"/>
            <a:ext cx="54865" cy="347473"/>
          </a:xfrm>
          <a:prstGeom prst="rect">
            <a:avLst/>
          </a:prstGeom>
          <a:solidFill>
            <a:srgbClr val="16A34A"/>
          </a:solidFill>
          <a:ln w="12700">
            <a:solidFill>
              <a:srgbClr val="16A34A"/>
            </a:solidFill>
          </a:ln>
        </p:spPr>
        <p:txBody>
          <a:bodyPr lIns="45719" rIns="45719"/>
          <a:lstStyle/>
          <a:p>
            <a:endParaRPr/>
          </a:p>
        </p:txBody>
      </p:sp>
      <p:sp>
        <p:nvSpPr>
          <p:cNvPr id="202" name="Text 36"/>
          <p:cNvSpPr txBox="1"/>
          <p:nvPr/>
        </p:nvSpPr>
        <p:spPr>
          <a:xfrm>
            <a:off x="5029199" y="3831843"/>
            <a:ext cx="21945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16A34A"/>
                </a:solidFill>
                <a:latin typeface="Consolas"/>
                <a:ea typeface="Consolas"/>
                <a:cs typeface="Consolas"/>
                <a:sym typeface="Consolas"/>
              </a:defRPr>
            </a:lvl1pPr>
          </a:lstStyle>
          <a:p>
            <a:r>
              <a:t>feature/unit-tests</a:t>
            </a:r>
          </a:p>
        </p:txBody>
      </p:sp>
      <p:sp>
        <p:nvSpPr>
          <p:cNvPr id="203" name="Text 37"/>
          <p:cNvSpPr txBox="1"/>
          <p:nvPr/>
        </p:nvSpPr>
        <p:spPr>
          <a:xfrm>
            <a:off x="5029200" y="3978148"/>
            <a:ext cx="274320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a:solidFill>
                  <a:srgbClr val="CADCFC"/>
                </a:solidFill>
              </a:defRPr>
            </a:lvl1pPr>
          </a:lstStyle>
          <a:p>
            <a:r>
              <a:t>Member 5 — JUnit test class</a:t>
            </a:r>
          </a:p>
        </p:txBody>
      </p:sp>
      <p:sp>
        <p:nvSpPr>
          <p:cNvPr id="204" name="Text 38"/>
          <p:cNvSpPr txBox="1"/>
          <p:nvPr/>
        </p:nvSpPr>
        <p:spPr>
          <a:xfrm>
            <a:off x="274320" y="3146465"/>
            <a:ext cx="4114801" cy="2541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i="1">
                <a:solidFill>
                  <a:srgbClr val="4FC3F7"/>
                </a:solidFill>
              </a:defRPr>
            </a:lvl1pPr>
          </a:lstStyle>
          <a:p>
            <a:r>
              <a:t>Workflow: Branch → Code → Commit → PR → Review → Merge into develop → Release to main → Tag v1.0.0</a:t>
            </a:r>
          </a:p>
        </p:txBody>
      </p:sp>
      <p:sp>
        <p:nvSpPr>
          <p:cNvPr id="205" name="Shape 39"/>
          <p:cNvSpPr/>
          <p:nvPr/>
        </p:nvSpPr>
        <p:spPr>
          <a:xfrm>
            <a:off x="274320" y="3566159"/>
            <a:ext cx="4114801" cy="274321"/>
          </a:xfrm>
          <a:prstGeom prst="rect">
            <a:avLst/>
          </a:prstGeom>
          <a:solidFill>
            <a:srgbClr val="0F2557"/>
          </a:solidFill>
          <a:ln w="12700">
            <a:solidFill>
              <a:srgbClr val="1E3A8A"/>
            </a:solidFill>
          </a:ln>
        </p:spPr>
        <p:txBody>
          <a:bodyPr lIns="45719" rIns="45719"/>
          <a:lstStyle/>
          <a:p>
            <a:endParaRPr/>
          </a:p>
        </p:txBody>
      </p:sp>
      <p:sp>
        <p:nvSpPr>
          <p:cNvPr id="206" name="Text 40"/>
          <p:cNvSpPr txBox="1"/>
          <p:nvPr/>
        </p:nvSpPr>
        <p:spPr>
          <a:xfrm>
            <a:off x="365759" y="3630675"/>
            <a:ext cx="146304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4FC3F7"/>
                </a:solidFill>
              </a:defRPr>
            </a:lvl1pPr>
          </a:lstStyle>
          <a:p>
            <a:r>
              <a:t>Commit Convention: </a:t>
            </a:r>
          </a:p>
        </p:txBody>
      </p:sp>
      <p:sp>
        <p:nvSpPr>
          <p:cNvPr id="207" name="Text 41"/>
          <p:cNvSpPr txBox="1"/>
          <p:nvPr/>
        </p:nvSpPr>
        <p:spPr>
          <a:xfrm>
            <a:off x="1828800" y="3630675"/>
            <a:ext cx="251460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Conventional Commits (feat:, fix:, docs:)</a:t>
            </a:r>
          </a:p>
        </p:txBody>
      </p:sp>
      <p:sp>
        <p:nvSpPr>
          <p:cNvPr id="208" name="Shape 42"/>
          <p:cNvSpPr/>
          <p:nvPr/>
        </p:nvSpPr>
        <p:spPr>
          <a:xfrm>
            <a:off x="274320" y="3895344"/>
            <a:ext cx="4114801" cy="274321"/>
          </a:xfrm>
          <a:prstGeom prst="rect">
            <a:avLst/>
          </a:prstGeom>
          <a:solidFill>
            <a:srgbClr val="0F2557"/>
          </a:solidFill>
          <a:ln w="12700">
            <a:solidFill>
              <a:srgbClr val="1E3A8A"/>
            </a:solidFill>
          </a:ln>
        </p:spPr>
        <p:txBody>
          <a:bodyPr lIns="45719" rIns="45719"/>
          <a:lstStyle/>
          <a:p>
            <a:endParaRPr/>
          </a:p>
        </p:txBody>
      </p:sp>
      <p:sp>
        <p:nvSpPr>
          <p:cNvPr id="209" name="Text 43"/>
          <p:cNvSpPr txBox="1"/>
          <p:nvPr/>
        </p:nvSpPr>
        <p:spPr>
          <a:xfrm>
            <a:off x="365759" y="3959860"/>
            <a:ext cx="146304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4FC3F7"/>
                </a:solidFill>
              </a:defRPr>
            </a:lvl1pPr>
          </a:lstStyle>
          <a:p>
            <a:r>
              <a:t>PR Policy: </a:t>
            </a:r>
          </a:p>
        </p:txBody>
      </p:sp>
      <p:sp>
        <p:nvSpPr>
          <p:cNvPr id="210" name="Text 44"/>
          <p:cNvSpPr txBox="1"/>
          <p:nvPr/>
        </p:nvSpPr>
        <p:spPr>
          <a:xfrm>
            <a:off x="1828800" y="3959860"/>
            <a:ext cx="251460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Review required before merge into develop</a:t>
            </a:r>
          </a:p>
        </p:txBody>
      </p:sp>
      <p:sp>
        <p:nvSpPr>
          <p:cNvPr id="211" name="Shape 45"/>
          <p:cNvSpPr/>
          <p:nvPr/>
        </p:nvSpPr>
        <p:spPr>
          <a:xfrm>
            <a:off x="274320" y="4224528"/>
            <a:ext cx="4114801" cy="274321"/>
          </a:xfrm>
          <a:prstGeom prst="rect">
            <a:avLst/>
          </a:prstGeom>
          <a:solidFill>
            <a:srgbClr val="0F2557"/>
          </a:solidFill>
          <a:ln w="12700">
            <a:solidFill>
              <a:srgbClr val="1E3A8A"/>
            </a:solidFill>
          </a:ln>
        </p:spPr>
        <p:txBody>
          <a:bodyPr lIns="45719" rIns="45719"/>
          <a:lstStyle/>
          <a:p>
            <a:endParaRPr/>
          </a:p>
        </p:txBody>
      </p:sp>
      <p:sp>
        <p:nvSpPr>
          <p:cNvPr id="212" name="Text 46"/>
          <p:cNvSpPr txBox="1"/>
          <p:nvPr/>
        </p:nvSpPr>
        <p:spPr>
          <a:xfrm>
            <a:off x="365759" y="4289043"/>
            <a:ext cx="146304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4FC3F7"/>
                </a:solidFill>
              </a:defRPr>
            </a:lvl1pPr>
          </a:lstStyle>
          <a:p>
            <a:r>
              <a:t>Branch Protection: </a:t>
            </a:r>
          </a:p>
        </p:txBody>
      </p:sp>
      <p:sp>
        <p:nvSpPr>
          <p:cNvPr id="213" name="Text 47"/>
          <p:cNvSpPr txBox="1"/>
          <p:nvPr/>
        </p:nvSpPr>
        <p:spPr>
          <a:xfrm>
            <a:off x="1828800" y="4289043"/>
            <a:ext cx="251460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main branch — direct push blocked</a:t>
            </a:r>
          </a:p>
        </p:txBody>
      </p:sp>
      <p:sp>
        <p:nvSpPr>
          <p:cNvPr id="214" name="Shape 48"/>
          <p:cNvSpPr/>
          <p:nvPr/>
        </p:nvSpPr>
        <p:spPr>
          <a:xfrm>
            <a:off x="274320" y="4553711"/>
            <a:ext cx="4114801" cy="274321"/>
          </a:xfrm>
          <a:prstGeom prst="rect">
            <a:avLst/>
          </a:prstGeom>
          <a:solidFill>
            <a:srgbClr val="0F2557"/>
          </a:solidFill>
          <a:ln w="12700">
            <a:solidFill>
              <a:srgbClr val="1E3A8A"/>
            </a:solidFill>
          </a:ln>
        </p:spPr>
        <p:txBody>
          <a:bodyPr lIns="45719" rIns="45719"/>
          <a:lstStyle/>
          <a:p>
            <a:endParaRPr/>
          </a:p>
        </p:txBody>
      </p:sp>
      <p:sp>
        <p:nvSpPr>
          <p:cNvPr id="215" name="Text 49"/>
          <p:cNvSpPr txBox="1"/>
          <p:nvPr/>
        </p:nvSpPr>
        <p:spPr>
          <a:xfrm>
            <a:off x="365759" y="4618227"/>
            <a:ext cx="146304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4FC3F7"/>
                </a:solidFill>
              </a:defRPr>
            </a:lvl1pPr>
          </a:lstStyle>
          <a:p>
            <a:r>
              <a:t>Tag: </a:t>
            </a:r>
          </a:p>
        </p:txBody>
      </p:sp>
      <p:sp>
        <p:nvSpPr>
          <p:cNvPr id="216" name="Text 50"/>
          <p:cNvSpPr txBox="1"/>
          <p:nvPr/>
        </p:nvSpPr>
        <p:spPr>
          <a:xfrm>
            <a:off x="1828800" y="4618227"/>
            <a:ext cx="251460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v1.0.0 — semantic versioning on first stable release</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2FF"/>
        </a:solidFill>
        <a:effectLst/>
      </p:bgPr>
    </p:bg>
    <p:spTree>
      <p:nvGrpSpPr>
        <p:cNvPr id="1" name=""/>
        <p:cNvGrpSpPr/>
        <p:nvPr/>
      </p:nvGrpSpPr>
      <p:grpSpPr>
        <a:xfrm>
          <a:off x="0" y="0"/>
          <a:ext cx="0" cy="0"/>
          <a:chOff x="0" y="0"/>
          <a:chExt cx="0" cy="0"/>
        </a:xfrm>
      </p:grpSpPr>
      <p:sp>
        <p:nvSpPr>
          <p:cNvPr id="218" name="Shape 0"/>
          <p:cNvSpPr/>
          <p:nvPr/>
        </p:nvSpPr>
        <p:spPr>
          <a:xfrm>
            <a:off x="0" y="-1"/>
            <a:ext cx="9144000" cy="73154"/>
          </a:xfrm>
          <a:prstGeom prst="rect">
            <a:avLst/>
          </a:prstGeom>
          <a:solidFill>
            <a:srgbClr val="1E2761"/>
          </a:solidFill>
          <a:ln w="12700">
            <a:solidFill>
              <a:srgbClr val="1E2761"/>
            </a:solidFill>
          </a:ln>
        </p:spPr>
        <p:txBody>
          <a:bodyPr lIns="45719" rIns="45719"/>
          <a:lstStyle/>
          <a:p>
            <a:endParaRPr/>
          </a:p>
        </p:txBody>
      </p:sp>
      <p:sp>
        <p:nvSpPr>
          <p:cNvPr id="219" name="Shape 1"/>
          <p:cNvSpPr/>
          <p:nvPr/>
        </p:nvSpPr>
        <p:spPr>
          <a:xfrm>
            <a:off x="0" y="73151"/>
            <a:ext cx="64008" cy="5070350"/>
          </a:xfrm>
          <a:prstGeom prst="rect">
            <a:avLst/>
          </a:prstGeom>
          <a:solidFill>
            <a:srgbClr val="1E2761"/>
          </a:solidFill>
          <a:ln w="12700">
            <a:solidFill>
              <a:srgbClr val="1E2761"/>
            </a:solidFill>
          </a:ln>
        </p:spPr>
        <p:txBody>
          <a:bodyPr lIns="45719" rIns="45719"/>
          <a:lstStyle/>
          <a:p>
            <a:endParaRPr/>
          </a:p>
        </p:txBody>
      </p:sp>
      <p:sp>
        <p:nvSpPr>
          <p:cNvPr id="220" name="Text 2"/>
          <p:cNvSpPr txBox="1"/>
          <p:nvPr/>
        </p:nvSpPr>
        <p:spPr>
          <a:xfrm>
            <a:off x="274320" y="233532"/>
            <a:ext cx="8595360" cy="3010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400" b="1">
                <a:solidFill>
                  <a:srgbClr val="1E2761"/>
                </a:solidFill>
              </a:defRPr>
            </a:lvl1pPr>
          </a:lstStyle>
          <a:p>
            <a:r>
              <a:t>3: Build Automation — Maven &amp; Jenkins</a:t>
            </a:r>
          </a:p>
        </p:txBody>
      </p:sp>
      <p:sp>
        <p:nvSpPr>
          <p:cNvPr id="221" name="Text 3"/>
          <p:cNvSpPr txBox="1"/>
          <p:nvPr/>
        </p:nvSpPr>
        <p:spPr>
          <a:xfrm>
            <a:off x="274320" y="700962"/>
            <a:ext cx="8595360"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4A3B8"/>
                </a:solidFill>
              </a:defRPr>
            </a:lvl1pPr>
          </a:lstStyle>
          <a:p>
            <a:r>
              <a:t>Why automate? Why these tools?</a:t>
            </a:r>
          </a:p>
        </p:txBody>
      </p:sp>
      <p:sp>
        <p:nvSpPr>
          <p:cNvPr id="222" name="Shape 4"/>
          <p:cNvSpPr/>
          <p:nvPr/>
        </p:nvSpPr>
        <p:spPr>
          <a:xfrm>
            <a:off x="201167" y="960119"/>
            <a:ext cx="4206242" cy="1371601"/>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223" name="Shape 5"/>
          <p:cNvSpPr/>
          <p:nvPr/>
        </p:nvSpPr>
        <p:spPr>
          <a:xfrm>
            <a:off x="201168" y="960119"/>
            <a:ext cx="64009" cy="1371601"/>
          </a:xfrm>
          <a:prstGeom prst="rect">
            <a:avLst/>
          </a:prstGeom>
          <a:solidFill>
            <a:srgbClr val="7C3AED"/>
          </a:solidFill>
          <a:ln w="12700">
            <a:solidFill>
              <a:srgbClr val="7C3AED"/>
            </a:solidFill>
          </a:ln>
        </p:spPr>
        <p:txBody>
          <a:bodyPr lIns="45719" rIns="45719"/>
          <a:lstStyle/>
          <a:p>
            <a:endParaRPr/>
          </a:p>
        </p:txBody>
      </p:sp>
      <p:sp>
        <p:nvSpPr>
          <p:cNvPr id="224" name="Text 6"/>
          <p:cNvSpPr txBox="1"/>
          <p:nvPr/>
        </p:nvSpPr>
        <p:spPr>
          <a:xfrm>
            <a:off x="365759" y="1092752"/>
            <a:ext cx="3977642"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7C3AED"/>
                </a:solidFill>
              </a:defRPr>
            </a:lvl1pPr>
          </a:lstStyle>
          <a:p>
            <a:r>
              <a:t>Why Maven?</a:t>
            </a:r>
          </a:p>
        </p:txBody>
      </p:sp>
      <p:sp>
        <p:nvSpPr>
          <p:cNvPr id="225" name="Text 7"/>
          <p:cNvSpPr txBox="1"/>
          <p:nvPr/>
        </p:nvSpPr>
        <p:spPr>
          <a:xfrm>
            <a:off x="365759" y="1516292"/>
            <a:ext cx="3977642" cy="533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1E293B"/>
                </a:solidFill>
              </a:defRPr>
            </a:lvl1pPr>
          </a:lstStyle>
          <a:p>
            <a:r>
              <a:t>Maven manages the entire build lifecycle through a single pom.xml file. It automatically downloads dependencies (like JUnit), compiles source code, runs tests, and packages the application into a JAR — eliminating manual steps and ensuring every team member builds identically.</a:t>
            </a:r>
          </a:p>
        </p:txBody>
      </p:sp>
      <p:sp>
        <p:nvSpPr>
          <p:cNvPr id="226" name="Text 8"/>
          <p:cNvSpPr txBox="1"/>
          <p:nvPr/>
        </p:nvSpPr>
        <p:spPr>
          <a:xfrm>
            <a:off x="201167" y="2482640"/>
            <a:ext cx="4206242"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1E2761"/>
                </a:solidFill>
              </a:defRPr>
            </a:lvl1pPr>
          </a:lstStyle>
          <a:p>
            <a:r>
              <a:t>Maven Build Lifecycle</a:t>
            </a:r>
          </a:p>
        </p:txBody>
      </p:sp>
      <p:sp>
        <p:nvSpPr>
          <p:cNvPr id="227" name="Shape 9"/>
          <p:cNvSpPr/>
          <p:nvPr/>
        </p:nvSpPr>
        <p:spPr>
          <a:xfrm>
            <a:off x="201167" y="2724911"/>
            <a:ext cx="749810" cy="594361"/>
          </a:xfrm>
          <a:prstGeom prst="rect">
            <a:avLst/>
          </a:prstGeom>
          <a:solidFill>
            <a:srgbClr val="FFFFFF"/>
          </a:solidFill>
          <a:ln w="19050">
            <a:solidFill>
              <a:srgbClr val="0891B2"/>
            </a:solidFill>
          </a:ln>
          <a:effectLst>
            <a:outerShdw blurRad="101600" dist="38100" dir="8100000" rotWithShape="0">
              <a:srgbClr val="000000">
                <a:alpha val="18000"/>
              </a:srgbClr>
            </a:outerShdw>
          </a:effectLst>
        </p:spPr>
        <p:txBody>
          <a:bodyPr lIns="45719" rIns="45719"/>
          <a:lstStyle/>
          <a:p>
            <a:endParaRPr/>
          </a:p>
        </p:txBody>
      </p:sp>
      <p:sp>
        <p:nvSpPr>
          <p:cNvPr id="228" name="Text 10"/>
          <p:cNvSpPr txBox="1"/>
          <p:nvPr/>
        </p:nvSpPr>
        <p:spPr>
          <a:xfrm>
            <a:off x="201167" y="2789427"/>
            <a:ext cx="74981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700" b="1">
                <a:solidFill>
                  <a:srgbClr val="0891B2"/>
                </a:solidFill>
              </a:defRPr>
            </a:lvl1pPr>
          </a:lstStyle>
          <a:p>
            <a:r>
              <a:t>validate</a:t>
            </a:r>
          </a:p>
        </p:txBody>
      </p:sp>
      <p:sp>
        <p:nvSpPr>
          <p:cNvPr id="229" name="Text 11"/>
          <p:cNvSpPr txBox="1"/>
          <p:nvPr/>
        </p:nvSpPr>
        <p:spPr>
          <a:xfrm>
            <a:off x="201167" y="3013614"/>
            <a:ext cx="749810" cy="2089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700">
                <a:solidFill>
                  <a:srgbClr val="374151"/>
                </a:solidFill>
              </a:defRPr>
            </a:lvl1pPr>
          </a:lstStyle>
          <a:p>
            <a:r>
              <a:t>Checks pom.xml is correct</a:t>
            </a:r>
          </a:p>
        </p:txBody>
      </p:sp>
      <p:sp>
        <p:nvSpPr>
          <p:cNvPr id="230" name="Text 12"/>
          <p:cNvSpPr txBox="1"/>
          <p:nvPr/>
        </p:nvSpPr>
        <p:spPr>
          <a:xfrm>
            <a:off x="950975" y="2853435"/>
            <a:ext cx="7315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94A3B8"/>
                </a:solidFill>
              </a:defRPr>
            </a:lvl1pPr>
          </a:lstStyle>
          <a:p>
            <a:r>
              <a:t>→</a:t>
            </a:r>
          </a:p>
        </p:txBody>
      </p:sp>
      <p:sp>
        <p:nvSpPr>
          <p:cNvPr id="231" name="Shape 13"/>
          <p:cNvSpPr/>
          <p:nvPr/>
        </p:nvSpPr>
        <p:spPr>
          <a:xfrm>
            <a:off x="1024127" y="2724911"/>
            <a:ext cx="749809" cy="594361"/>
          </a:xfrm>
          <a:prstGeom prst="rect">
            <a:avLst/>
          </a:prstGeom>
          <a:solidFill>
            <a:srgbClr val="FFFFFF"/>
          </a:solidFill>
          <a:ln w="19050">
            <a:solidFill>
              <a:srgbClr val="3B82F6"/>
            </a:solidFill>
          </a:ln>
          <a:effectLst>
            <a:outerShdw blurRad="101600" dist="38100" dir="8100000" rotWithShape="0">
              <a:srgbClr val="000000">
                <a:alpha val="18000"/>
              </a:srgbClr>
            </a:outerShdw>
          </a:effectLst>
        </p:spPr>
        <p:txBody>
          <a:bodyPr lIns="45719" rIns="45719"/>
          <a:lstStyle/>
          <a:p>
            <a:endParaRPr/>
          </a:p>
        </p:txBody>
      </p:sp>
      <p:sp>
        <p:nvSpPr>
          <p:cNvPr id="232" name="Text 14"/>
          <p:cNvSpPr txBox="1"/>
          <p:nvPr/>
        </p:nvSpPr>
        <p:spPr>
          <a:xfrm>
            <a:off x="1024127" y="2789427"/>
            <a:ext cx="74980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700" b="1">
                <a:solidFill>
                  <a:srgbClr val="3B82F6"/>
                </a:solidFill>
              </a:defRPr>
            </a:lvl1pPr>
          </a:lstStyle>
          <a:p>
            <a:r>
              <a:t>compile</a:t>
            </a:r>
          </a:p>
        </p:txBody>
      </p:sp>
      <p:sp>
        <p:nvSpPr>
          <p:cNvPr id="233" name="Text 15"/>
          <p:cNvSpPr txBox="1"/>
          <p:nvPr/>
        </p:nvSpPr>
        <p:spPr>
          <a:xfrm>
            <a:off x="1024127" y="3013614"/>
            <a:ext cx="749809" cy="2089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700">
                <a:solidFill>
                  <a:srgbClr val="374151"/>
                </a:solidFill>
              </a:defRPr>
            </a:lvl1pPr>
          </a:lstStyle>
          <a:p>
            <a:r>
              <a:t>Compiles Java source files</a:t>
            </a:r>
          </a:p>
        </p:txBody>
      </p:sp>
      <p:sp>
        <p:nvSpPr>
          <p:cNvPr id="234" name="Text 16"/>
          <p:cNvSpPr txBox="1"/>
          <p:nvPr/>
        </p:nvSpPr>
        <p:spPr>
          <a:xfrm>
            <a:off x="1773935" y="2853435"/>
            <a:ext cx="7315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94A3B8"/>
                </a:solidFill>
              </a:defRPr>
            </a:lvl1pPr>
          </a:lstStyle>
          <a:p>
            <a:r>
              <a:t>→</a:t>
            </a:r>
          </a:p>
        </p:txBody>
      </p:sp>
      <p:sp>
        <p:nvSpPr>
          <p:cNvPr id="235" name="Shape 17"/>
          <p:cNvSpPr/>
          <p:nvPr/>
        </p:nvSpPr>
        <p:spPr>
          <a:xfrm>
            <a:off x="1847088" y="2724911"/>
            <a:ext cx="749809" cy="594361"/>
          </a:xfrm>
          <a:prstGeom prst="rect">
            <a:avLst/>
          </a:prstGeom>
          <a:solidFill>
            <a:srgbClr val="FFFFFF"/>
          </a:solidFill>
          <a:ln w="19050">
            <a:solidFill>
              <a:srgbClr val="7C3AED"/>
            </a:solidFill>
          </a:ln>
          <a:effectLst>
            <a:outerShdw blurRad="101600" dist="38100" dir="8100000" rotWithShape="0">
              <a:srgbClr val="000000">
                <a:alpha val="18000"/>
              </a:srgbClr>
            </a:outerShdw>
          </a:effectLst>
        </p:spPr>
        <p:txBody>
          <a:bodyPr lIns="45719" rIns="45719"/>
          <a:lstStyle/>
          <a:p>
            <a:endParaRPr/>
          </a:p>
        </p:txBody>
      </p:sp>
      <p:sp>
        <p:nvSpPr>
          <p:cNvPr id="236" name="Text 18"/>
          <p:cNvSpPr txBox="1"/>
          <p:nvPr/>
        </p:nvSpPr>
        <p:spPr>
          <a:xfrm>
            <a:off x="1847088" y="2789427"/>
            <a:ext cx="74980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700" b="1">
                <a:solidFill>
                  <a:srgbClr val="7C3AED"/>
                </a:solidFill>
              </a:defRPr>
            </a:lvl1pPr>
          </a:lstStyle>
          <a:p>
            <a:r>
              <a:t>test</a:t>
            </a:r>
          </a:p>
        </p:txBody>
      </p:sp>
      <p:sp>
        <p:nvSpPr>
          <p:cNvPr id="237" name="Text 19"/>
          <p:cNvSpPr txBox="1"/>
          <p:nvPr/>
        </p:nvSpPr>
        <p:spPr>
          <a:xfrm>
            <a:off x="1847088" y="3013614"/>
            <a:ext cx="749809" cy="2089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700">
                <a:solidFill>
                  <a:srgbClr val="374151"/>
                </a:solidFill>
              </a:defRPr>
            </a:lvl1pPr>
          </a:lstStyle>
          <a:p>
            <a:r>
              <a:t>Runs JUnit 5 test suite</a:t>
            </a:r>
          </a:p>
        </p:txBody>
      </p:sp>
      <p:sp>
        <p:nvSpPr>
          <p:cNvPr id="238" name="Text 20"/>
          <p:cNvSpPr txBox="1"/>
          <p:nvPr/>
        </p:nvSpPr>
        <p:spPr>
          <a:xfrm>
            <a:off x="2596895" y="2853435"/>
            <a:ext cx="7315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94A3B8"/>
                </a:solidFill>
              </a:defRPr>
            </a:lvl1pPr>
          </a:lstStyle>
          <a:p>
            <a:r>
              <a:t>→</a:t>
            </a:r>
          </a:p>
        </p:txBody>
      </p:sp>
      <p:sp>
        <p:nvSpPr>
          <p:cNvPr id="239" name="Shape 21"/>
          <p:cNvSpPr/>
          <p:nvPr/>
        </p:nvSpPr>
        <p:spPr>
          <a:xfrm>
            <a:off x="2670048" y="2724911"/>
            <a:ext cx="749809" cy="594361"/>
          </a:xfrm>
          <a:prstGeom prst="rect">
            <a:avLst/>
          </a:prstGeom>
          <a:solidFill>
            <a:srgbClr val="FFFFFF"/>
          </a:solidFill>
          <a:ln w="19050">
            <a:solidFill>
              <a:srgbClr val="D97706"/>
            </a:solidFill>
          </a:ln>
          <a:effectLst>
            <a:outerShdw blurRad="101600" dist="38100" dir="8100000" rotWithShape="0">
              <a:srgbClr val="000000">
                <a:alpha val="18000"/>
              </a:srgbClr>
            </a:outerShdw>
          </a:effectLst>
        </p:spPr>
        <p:txBody>
          <a:bodyPr lIns="45719" rIns="45719"/>
          <a:lstStyle/>
          <a:p>
            <a:endParaRPr/>
          </a:p>
        </p:txBody>
      </p:sp>
      <p:sp>
        <p:nvSpPr>
          <p:cNvPr id="240" name="Text 22"/>
          <p:cNvSpPr txBox="1"/>
          <p:nvPr/>
        </p:nvSpPr>
        <p:spPr>
          <a:xfrm>
            <a:off x="2670048" y="2789427"/>
            <a:ext cx="74980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700" b="1">
                <a:solidFill>
                  <a:srgbClr val="D97706"/>
                </a:solidFill>
              </a:defRPr>
            </a:lvl1pPr>
          </a:lstStyle>
          <a:p>
            <a:r>
              <a:t>package</a:t>
            </a:r>
          </a:p>
        </p:txBody>
      </p:sp>
      <p:sp>
        <p:nvSpPr>
          <p:cNvPr id="241" name="Text 23"/>
          <p:cNvSpPr txBox="1"/>
          <p:nvPr/>
        </p:nvSpPr>
        <p:spPr>
          <a:xfrm>
            <a:off x="2670048" y="3013614"/>
            <a:ext cx="749809" cy="2089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700">
                <a:solidFill>
                  <a:srgbClr val="374151"/>
                </a:solidFill>
              </a:defRPr>
            </a:lvl1pPr>
          </a:lstStyle>
          <a:p>
            <a:r>
              <a:t>Bundles into .jar artifact</a:t>
            </a:r>
          </a:p>
        </p:txBody>
      </p:sp>
      <p:sp>
        <p:nvSpPr>
          <p:cNvPr id="242" name="Text 24"/>
          <p:cNvSpPr txBox="1"/>
          <p:nvPr/>
        </p:nvSpPr>
        <p:spPr>
          <a:xfrm>
            <a:off x="3419855" y="2853435"/>
            <a:ext cx="7315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94A3B8"/>
                </a:solidFill>
              </a:defRPr>
            </a:lvl1pPr>
          </a:lstStyle>
          <a:p>
            <a:r>
              <a:t>→</a:t>
            </a:r>
          </a:p>
        </p:txBody>
      </p:sp>
      <p:sp>
        <p:nvSpPr>
          <p:cNvPr id="243" name="Shape 25"/>
          <p:cNvSpPr/>
          <p:nvPr/>
        </p:nvSpPr>
        <p:spPr>
          <a:xfrm>
            <a:off x="3493008" y="2724911"/>
            <a:ext cx="749809" cy="594361"/>
          </a:xfrm>
          <a:prstGeom prst="rect">
            <a:avLst/>
          </a:prstGeom>
          <a:solidFill>
            <a:srgbClr val="FFFFFF"/>
          </a:solidFill>
          <a:ln w="19050">
            <a:solidFill>
              <a:srgbClr val="16A34A"/>
            </a:solidFill>
          </a:ln>
          <a:effectLst>
            <a:outerShdw blurRad="101600" dist="38100" dir="8100000" rotWithShape="0">
              <a:srgbClr val="000000">
                <a:alpha val="18000"/>
              </a:srgbClr>
            </a:outerShdw>
          </a:effectLst>
        </p:spPr>
        <p:txBody>
          <a:bodyPr lIns="45719" rIns="45719"/>
          <a:lstStyle/>
          <a:p>
            <a:endParaRPr/>
          </a:p>
        </p:txBody>
      </p:sp>
      <p:sp>
        <p:nvSpPr>
          <p:cNvPr id="244" name="Text 26"/>
          <p:cNvSpPr txBox="1"/>
          <p:nvPr/>
        </p:nvSpPr>
        <p:spPr>
          <a:xfrm>
            <a:off x="3493008" y="2789427"/>
            <a:ext cx="74980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700" b="1">
                <a:solidFill>
                  <a:srgbClr val="16A34A"/>
                </a:solidFill>
              </a:defRPr>
            </a:lvl1pPr>
          </a:lstStyle>
          <a:p>
            <a:r>
              <a:t>deploy</a:t>
            </a:r>
          </a:p>
        </p:txBody>
      </p:sp>
      <p:sp>
        <p:nvSpPr>
          <p:cNvPr id="245" name="Text 27"/>
          <p:cNvSpPr txBox="1"/>
          <p:nvPr/>
        </p:nvSpPr>
        <p:spPr>
          <a:xfrm>
            <a:off x="3493008" y="3013614"/>
            <a:ext cx="749809" cy="2089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700">
                <a:solidFill>
                  <a:srgbClr val="374151"/>
                </a:solidFill>
              </a:defRPr>
            </a:lvl1pPr>
          </a:lstStyle>
          <a:p>
            <a:r>
              <a:t>Uploads to remote repo</a:t>
            </a:r>
          </a:p>
        </p:txBody>
      </p:sp>
      <p:sp>
        <p:nvSpPr>
          <p:cNvPr id="246" name="Shape 28"/>
          <p:cNvSpPr/>
          <p:nvPr/>
        </p:nvSpPr>
        <p:spPr>
          <a:xfrm>
            <a:off x="201167" y="3428999"/>
            <a:ext cx="4206242" cy="1508762"/>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247" name="Shape 29"/>
          <p:cNvSpPr/>
          <p:nvPr/>
        </p:nvSpPr>
        <p:spPr>
          <a:xfrm>
            <a:off x="201168" y="3428999"/>
            <a:ext cx="64009" cy="1508762"/>
          </a:xfrm>
          <a:prstGeom prst="rect">
            <a:avLst/>
          </a:prstGeom>
          <a:solidFill>
            <a:srgbClr val="DC2626"/>
          </a:solidFill>
          <a:ln w="12700">
            <a:solidFill>
              <a:srgbClr val="DC2626"/>
            </a:solidFill>
          </a:ln>
        </p:spPr>
        <p:txBody>
          <a:bodyPr lIns="45719" rIns="45719"/>
          <a:lstStyle/>
          <a:p>
            <a:endParaRPr/>
          </a:p>
        </p:txBody>
      </p:sp>
      <p:sp>
        <p:nvSpPr>
          <p:cNvPr id="248" name="Text 30"/>
          <p:cNvSpPr txBox="1"/>
          <p:nvPr/>
        </p:nvSpPr>
        <p:spPr>
          <a:xfrm>
            <a:off x="365759" y="3561632"/>
            <a:ext cx="3977642"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DC2626"/>
                </a:solidFill>
              </a:defRPr>
            </a:lvl1pPr>
          </a:lstStyle>
          <a:p>
            <a:r>
              <a:t>Why Jenkins?</a:t>
            </a:r>
          </a:p>
        </p:txBody>
      </p:sp>
      <p:sp>
        <p:nvSpPr>
          <p:cNvPr id="249" name="Text 31"/>
          <p:cNvSpPr txBox="1"/>
          <p:nvPr/>
        </p:nvSpPr>
        <p:spPr>
          <a:xfrm>
            <a:off x="365759" y="3983903"/>
            <a:ext cx="3977642" cy="6732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1E293B"/>
                </a:solidFill>
              </a:defRPr>
            </a:lvl1pPr>
          </a:lstStyle>
          <a:p>
            <a:r>
              <a:t>Jenkins is the leading open-source CI/CD automation server. It triggers automatically on every GitHub push, runs the full Maven build pipeline, publishes test results, and builds the Docker image — ensuring broken code is caught immediately. The declarative Jenkinsfile lives in the repository itself, making the pipeline versioned alongside the code.</a:t>
            </a:r>
          </a:p>
        </p:txBody>
      </p:sp>
      <p:sp>
        <p:nvSpPr>
          <p:cNvPr id="250" name="Text 32"/>
          <p:cNvSpPr txBox="1"/>
          <p:nvPr/>
        </p:nvSpPr>
        <p:spPr>
          <a:xfrm>
            <a:off x="4571999" y="1021002"/>
            <a:ext cx="4389122"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a:solidFill>
                  <a:srgbClr val="1E2761"/>
                </a:solidFill>
              </a:defRPr>
            </a:lvl1pPr>
          </a:lstStyle>
          <a:p>
            <a:r>
              <a:t>Jenkins Pipeline — 5 Stages</a:t>
            </a:r>
          </a:p>
        </p:txBody>
      </p:sp>
      <p:sp>
        <p:nvSpPr>
          <p:cNvPr id="251" name="Shape 33"/>
          <p:cNvSpPr/>
          <p:nvPr/>
        </p:nvSpPr>
        <p:spPr>
          <a:xfrm>
            <a:off x="4571999" y="1261872"/>
            <a:ext cx="4389122" cy="658369"/>
          </a:xfrm>
          <a:prstGeom prst="rect">
            <a:avLst/>
          </a:prstGeom>
          <a:solidFill>
            <a:srgbClr val="FFFFFF"/>
          </a:solidFill>
          <a:ln w="19050">
            <a:solidFill>
              <a:srgbClr val="3B82F6"/>
            </a:solidFill>
          </a:ln>
          <a:effectLst>
            <a:outerShdw blurRad="101600" dist="38100" dir="8100000" rotWithShape="0">
              <a:srgbClr val="000000">
                <a:alpha val="18000"/>
              </a:srgbClr>
            </a:outerShdw>
          </a:effectLst>
        </p:spPr>
        <p:txBody>
          <a:bodyPr lIns="45719" rIns="45719"/>
          <a:lstStyle/>
          <a:p>
            <a:endParaRPr/>
          </a:p>
        </p:txBody>
      </p:sp>
      <p:sp>
        <p:nvSpPr>
          <p:cNvPr id="252" name="Shape 34"/>
          <p:cNvSpPr/>
          <p:nvPr/>
        </p:nvSpPr>
        <p:spPr>
          <a:xfrm>
            <a:off x="4572000" y="1261872"/>
            <a:ext cx="54864" cy="658369"/>
          </a:xfrm>
          <a:prstGeom prst="rect">
            <a:avLst/>
          </a:prstGeom>
          <a:solidFill>
            <a:srgbClr val="3B82F6"/>
          </a:solidFill>
          <a:ln w="12700">
            <a:solidFill>
              <a:srgbClr val="3B82F6"/>
            </a:solidFill>
          </a:ln>
        </p:spPr>
        <p:txBody>
          <a:bodyPr lIns="45719" rIns="45719"/>
          <a:lstStyle/>
          <a:p>
            <a:endParaRPr/>
          </a:p>
        </p:txBody>
      </p:sp>
      <p:sp>
        <p:nvSpPr>
          <p:cNvPr id="253" name="Text 35"/>
          <p:cNvSpPr txBox="1"/>
          <p:nvPr/>
        </p:nvSpPr>
        <p:spPr>
          <a:xfrm>
            <a:off x="4663440" y="1336421"/>
            <a:ext cx="4114801" cy="1435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3B82F6"/>
                </a:solidFill>
              </a:defRPr>
            </a:lvl1pPr>
          </a:lstStyle>
          <a:p>
            <a:r>
              <a:t>⬇  Stage 1: Checkout</a:t>
            </a:r>
          </a:p>
        </p:txBody>
      </p:sp>
      <p:sp>
        <p:nvSpPr>
          <p:cNvPr id="254" name="Text 36"/>
          <p:cNvSpPr txBox="1"/>
          <p:nvPr/>
        </p:nvSpPr>
        <p:spPr>
          <a:xfrm>
            <a:off x="4663440" y="1637283"/>
            <a:ext cx="41148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374151"/>
                </a:solidFill>
              </a:defRPr>
            </a:lvl1pPr>
          </a:lstStyle>
          <a:p>
            <a:r>
              <a:t>Pulls latest code from the develop branch of the GitHub repository automatically</a:t>
            </a:r>
          </a:p>
        </p:txBody>
      </p:sp>
      <p:sp>
        <p:nvSpPr>
          <p:cNvPr id="255" name="Shape 37"/>
          <p:cNvSpPr/>
          <p:nvPr/>
        </p:nvSpPr>
        <p:spPr>
          <a:xfrm>
            <a:off x="4571999" y="2011679"/>
            <a:ext cx="4389122" cy="658369"/>
          </a:xfrm>
          <a:prstGeom prst="rect">
            <a:avLst/>
          </a:prstGeom>
          <a:solidFill>
            <a:srgbClr val="FFFFFF"/>
          </a:solidFill>
          <a:ln w="19050">
            <a:solidFill>
              <a:srgbClr val="16A34A"/>
            </a:solidFill>
          </a:ln>
          <a:effectLst>
            <a:outerShdw blurRad="101600" dist="38100" dir="8100000" rotWithShape="0">
              <a:srgbClr val="000000">
                <a:alpha val="18000"/>
              </a:srgbClr>
            </a:outerShdw>
          </a:effectLst>
        </p:spPr>
        <p:txBody>
          <a:bodyPr lIns="45719" rIns="45719"/>
          <a:lstStyle/>
          <a:p>
            <a:endParaRPr/>
          </a:p>
        </p:txBody>
      </p:sp>
      <p:sp>
        <p:nvSpPr>
          <p:cNvPr id="256" name="Shape 38"/>
          <p:cNvSpPr/>
          <p:nvPr/>
        </p:nvSpPr>
        <p:spPr>
          <a:xfrm>
            <a:off x="4572000" y="2011679"/>
            <a:ext cx="54864" cy="658369"/>
          </a:xfrm>
          <a:prstGeom prst="rect">
            <a:avLst/>
          </a:prstGeom>
          <a:solidFill>
            <a:srgbClr val="16A34A"/>
          </a:solidFill>
          <a:ln w="12700">
            <a:solidFill>
              <a:srgbClr val="16A34A"/>
            </a:solidFill>
          </a:ln>
        </p:spPr>
        <p:txBody>
          <a:bodyPr lIns="45719" rIns="45719"/>
          <a:lstStyle/>
          <a:p>
            <a:endParaRPr/>
          </a:p>
        </p:txBody>
      </p:sp>
      <p:sp>
        <p:nvSpPr>
          <p:cNvPr id="257" name="Text 39"/>
          <p:cNvSpPr txBox="1"/>
          <p:nvPr/>
        </p:nvSpPr>
        <p:spPr>
          <a:xfrm>
            <a:off x="4663440" y="2050033"/>
            <a:ext cx="4114801"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16A34A"/>
                </a:solidFill>
              </a:defRPr>
            </a:lvl1pPr>
          </a:lstStyle>
          <a:p>
            <a:r>
              <a:t>🔨  Stage 2: Build</a:t>
            </a:r>
          </a:p>
        </p:txBody>
      </p:sp>
      <p:sp>
        <p:nvSpPr>
          <p:cNvPr id="258" name="Text 40"/>
          <p:cNvSpPr txBox="1"/>
          <p:nvPr/>
        </p:nvSpPr>
        <p:spPr>
          <a:xfrm>
            <a:off x="4663440" y="2387091"/>
            <a:ext cx="41148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374151"/>
                </a:solidFill>
              </a:defRPr>
            </a:lvl1pPr>
          </a:lstStyle>
          <a:p>
            <a:r>
              <a:t>Runs mvn clean compile to confirm all Java files compile without errors</a:t>
            </a:r>
          </a:p>
        </p:txBody>
      </p:sp>
      <p:sp>
        <p:nvSpPr>
          <p:cNvPr id="259" name="Shape 41"/>
          <p:cNvSpPr/>
          <p:nvPr/>
        </p:nvSpPr>
        <p:spPr>
          <a:xfrm>
            <a:off x="4571999" y="2761488"/>
            <a:ext cx="4389122" cy="658369"/>
          </a:xfrm>
          <a:prstGeom prst="rect">
            <a:avLst/>
          </a:prstGeom>
          <a:solidFill>
            <a:srgbClr val="FFFFFF"/>
          </a:solidFill>
          <a:ln w="19050">
            <a:solidFill>
              <a:srgbClr val="D97706"/>
            </a:solidFill>
          </a:ln>
          <a:effectLst>
            <a:outerShdw blurRad="101600" dist="38100" dir="8100000" rotWithShape="0">
              <a:srgbClr val="000000">
                <a:alpha val="18000"/>
              </a:srgbClr>
            </a:outerShdw>
          </a:effectLst>
        </p:spPr>
        <p:txBody>
          <a:bodyPr lIns="45719" rIns="45719"/>
          <a:lstStyle/>
          <a:p>
            <a:endParaRPr/>
          </a:p>
        </p:txBody>
      </p:sp>
      <p:sp>
        <p:nvSpPr>
          <p:cNvPr id="260" name="Shape 42"/>
          <p:cNvSpPr/>
          <p:nvPr/>
        </p:nvSpPr>
        <p:spPr>
          <a:xfrm>
            <a:off x="4572000" y="2761488"/>
            <a:ext cx="54864" cy="658369"/>
          </a:xfrm>
          <a:prstGeom prst="rect">
            <a:avLst/>
          </a:prstGeom>
          <a:solidFill>
            <a:srgbClr val="D97706"/>
          </a:solidFill>
          <a:ln w="12700">
            <a:solidFill>
              <a:srgbClr val="D97706"/>
            </a:solidFill>
          </a:ln>
        </p:spPr>
        <p:txBody>
          <a:bodyPr lIns="45719" rIns="45719"/>
          <a:lstStyle/>
          <a:p>
            <a:endParaRPr/>
          </a:p>
        </p:txBody>
      </p:sp>
      <p:sp>
        <p:nvSpPr>
          <p:cNvPr id="261" name="Text 43"/>
          <p:cNvSpPr txBox="1"/>
          <p:nvPr/>
        </p:nvSpPr>
        <p:spPr>
          <a:xfrm>
            <a:off x="4663440" y="2799842"/>
            <a:ext cx="4114801"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D97706"/>
                </a:solidFill>
              </a:defRPr>
            </a:lvl1pPr>
          </a:lstStyle>
          <a:p>
            <a:r>
              <a:t>✅  Stage 3: Unit Test</a:t>
            </a:r>
          </a:p>
        </p:txBody>
      </p:sp>
      <p:sp>
        <p:nvSpPr>
          <p:cNvPr id="262" name="Text 44"/>
          <p:cNvSpPr txBox="1"/>
          <p:nvPr/>
        </p:nvSpPr>
        <p:spPr>
          <a:xfrm>
            <a:off x="4663440" y="3136900"/>
            <a:ext cx="41148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374151"/>
                </a:solidFill>
              </a:defRPr>
            </a:lvl1pPr>
          </a:lstStyle>
          <a:p>
            <a:r>
              <a:t>Executes all JUnit 5 tests; results published to Jenkins dashboard as XML report</a:t>
            </a:r>
          </a:p>
        </p:txBody>
      </p:sp>
      <p:sp>
        <p:nvSpPr>
          <p:cNvPr id="263" name="Shape 45"/>
          <p:cNvSpPr/>
          <p:nvPr/>
        </p:nvSpPr>
        <p:spPr>
          <a:xfrm>
            <a:off x="4571999" y="3511296"/>
            <a:ext cx="4389122" cy="658369"/>
          </a:xfrm>
          <a:prstGeom prst="rect">
            <a:avLst/>
          </a:prstGeom>
          <a:solidFill>
            <a:srgbClr val="FFFFFF"/>
          </a:solidFill>
          <a:ln w="19050">
            <a:solidFill>
              <a:srgbClr val="7C3AED"/>
            </a:solidFill>
          </a:ln>
          <a:effectLst>
            <a:outerShdw blurRad="101600" dist="38100" dir="8100000" rotWithShape="0">
              <a:srgbClr val="000000">
                <a:alpha val="18000"/>
              </a:srgbClr>
            </a:outerShdw>
          </a:effectLst>
        </p:spPr>
        <p:txBody>
          <a:bodyPr lIns="45719" rIns="45719"/>
          <a:lstStyle/>
          <a:p>
            <a:endParaRPr/>
          </a:p>
        </p:txBody>
      </p:sp>
      <p:sp>
        <p:nvSpPr>
          <p:cNvPr id="264" name="Shape 46"/>
          <p:cNvSpPr/>
          <p:nvPr/>
        </p:nvSpPr>
        <p:spPr>
          <a:xfrm>
            <a:off x="4572000" y="3511296"/>
            <a:ext cx="54864" cy="658369"/>
          </a:xfrm>
          <a:prstGeom prst="rect">
            <a:avLst/>
          </a:prstGeom>
          <a:solidFill>
            <a:srgbClr val="7C3AED"/>
          </a:solidFill>
          <a:ln w="12700">
            <a:solidFill>
              <a:srgbClr val="7C3AED"/>
            </a:solidFill>
          </a:ln>
        </p:spPr>
        <p:txBody>
          <a:bodyPr lIns="45719" rIns="45719"/>
          <a:lstStyle/>
          <a:p>
            <a:endParaRPr/>
          </a:p>
        </p:txBody>
      </p:sp>
      <p:sp>
        <p:nvSpPr>
          <p:cNvPr id="265" name="Text 47"/>
          <p:cNvSpPr txBox="1"/>
          <p:nvPr/>
        </p:nvSpPr>
        <p:spPr>
          <a:xfrm>
            <a:off x="4663440" y="3549650"/>
            <a:ext cx="4114801"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7C3AED"/>
                </a:solidFill>
              </a:defRPr>
            </a:lvl1pPr>
          </a:lstStyle>
          <a:p>
            <a:r>
              <a:t>📦  Stage 4: Package</a:t>
            </a:r>
          </a:p>
        </p:txBody>
      </p:sp>
      <p:sp>
        <p:nvSpPr>
          <p:cNvPr id="266" name="Text 48"/>
          <p:cNvSpPr txBox="1"/>
          <p:nvPr/>
        </p:nvSpPr>
        <p:spPr>
          <a:xfrm>
            <a:off x="4663440" y="3886707"/>
            <a:ext cx="41148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374151"/>
                </a:solidFill>
              </a:defRPr>
            </a:lvl1pPr>
          </a:lstStyle>
          <a:p>
            <a:r>
              <a:t>Runs mvn package to produce customer-management-1.0.0.jar; archived as build artifact</a:t>
            </a:r>
          </a:p>
        </p:txBody>
      </p:sp>
      <p:sp>
        <p:nvSpPr>
          <p:cNvPr id="267" name="Shape 49"/>
          <p:cNvSpPr/>
          <p:nvPr/>
        </p:nvSpPr>
        <p:spPr>
          <a:xfrm>
            <a:off x="4571999" y="4261103"/>
            <a:ext cx="4389122" cy="658369"/>
          </a:xfrm>
          <a:prstGeom prst="rect">
            <a:avLst/>
          </a:prstGeom>
          <a:solidFill>
            <a:srgbClr val="FFFFFF"/>
          </a:solidFill>
          <a:ln w="19050">
            <a:solidFill>
              <a:srgbClr val="0891B2"/>
            </a:solidFill>
          </a:ln>
          <a:effectLst>
            <a:outerShdw blurRad="101600" dist="38100" dir="8100000" rotWithShape="0">
              <a:srgbClr val="000000">
                <a:alpha val="18000"/>
              </a:srgbClr>
            </a:outerShdw>
          </a:effectLst>
        </p:spPr>
        <p:txBody>
          <a:bodyPr lIns="45719" rIns="45719"/>
          <a:lstStyle/>
          <a:p>
            <a:endParaRPr/>
          </a:p>
        </p:txBody>
      </p:sp>
      <p:sp>
        <p:nvSpPr>
          <p:cNvPr id="268" name="Shape 50"/>
          <p:cNvSpPr/>
          <p:nvPr/>
        </p:nvSpPr>
        <p:spPr>
          <a:xfrm>
            <a:off x="4572000" y="4261103"/>
            <a:ext cx="54864" cy="658369"/>
          </a:xfrm>
          <a:prstGeom prst="rect">
            <a:avLst/>
          </a:prstGeom>
          <a:solidFill>
            <a:srgbClr val="0891B2"/>
          </a:solidFill>
          <a:ln w="12700">
            <a:solidFill>
              <a:srgbClr val="0891B2"/>
            </a:solidFill>
          </a:ln>
        </p:spPr>
        <p:txBody>
          <a:bodyPr lIns="45719" rIns="45719"/>
          <a:lstStyle/>
          <a:p>
            <a:endParaRPr/>
          </a:p>
        </p:txBody>
      </p:sp>
      <p:sp>
        <p:nvSpPr>
          <p:cNvPr id="269" name="Text 51"/>
          <p:cNvSpPr txBox="1"/>
          <p:nvPr/>
        </p:nvSpPr>
        <p:spPr>
          <a:xfrm>
            <a:off x="4663440" y="4299457"/>
            <a:ext cx="4114801"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0891B2"/>
                </a:solidFill>
              </a:defRPr>
            </a:lvl1pPr>
          </a:lstStyle>
          <a:p>
            <a:r>
              <a:t>🐳  Stage 5: Docker Build</a:t>
            </a:r>
          </a:p>
        </p:txBody>
      </p:sp>
      <p:sp>
        <p:nvSpPr>
          <p:cNvPr id="270" name="Text 52"/>
          <p:cNvSpPr txBox="1"/>
          <p:nvPr/>
        </p:nvSpPr>
        <p:spPr>
          <a:xfrm>
            <a:off x="4663440" y="4636515"/>
            <a:ext cx="41148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374151"/>
                </a:solidFill>
              </a:defRPr>
            </a:lvl1pPr>
          </a:lstStyle>
          <a:p>
            <a:r>
              <a:t>Builds Docker image from Dockerfile; tags with Jenkins build number for traceability</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4B"/>
        </a:solidFill>
        <a:effectLst/>
      </p:bgPr>
    </p:bg>
    <p:spTree>
      <p:nvGrpSpPr>
        <p:cNvPr id="1" name=""/>
        <p:cNvGrpSpPr/>
        <p:nvPr/>
      </p:nvGrpSpPr>
      <p:grpSpPr>
        <a:xfrm>
          <a:off x="0" y="0"/>
          <a:ext cx="0" cy="0"/>
          <a:chOff x="0" y="0"/>
          <a:chExt cx="0" cy="0"/>
        </a:xfrm>
      </p:grpSpPr>
      <p:sp>
        <p:nvSpPr>
          <p:cNvPr id="272" name="Shape 0"/>
          <p:cNvSpPr/>
          <p:nvPr/>
        </p:nvSpPr>
        <p:spPr>
          <a:xfrm>
            <a:off x="0" y="-1"/>
            <a:ext cx="9144000" cy="73154"/>
          </a:xfrm>
          <a:prstGeom prst="rect">
            <a:avLst/>
          </a:prstGeom>
          <a:solidFill>
            <a:srgbClr val="4FC3F7"/>
          </a:solidFill>
          <a:ln w="12700">
            <a:solidFill>
              <a:srgbClr val="4FC3F7"/>
            </a:solidFill>
          </a:ln>
        </p:spPr>
        <p:txBody>
          <a:bodyPr lIns="45719" rIns="45719"/>
          <a:lstStyle/>
          <a:p>
            <a:endParaRPr/>
          </a:p>
        </p:txBody>
      </p:sp>
      <p:sp>
        <p:nvSpPr>
          <p:cNvPr id="273" name="Text 1"/>
          <p:cNvSpPr txBox="1"/>
          <p:nvPr/>
        </p:nvSpPr>
        <p:spPr>
          <a:xfrm>
            <a:off x="365759" y="233532"/>
            <a:ext cx="8412482" cy="3010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400" b="1">
                <a:solidFill>
                  <a:srgbClr val="FFFFFF"/>
                </a:solidFill>
              </a:defRPr>
            </a:lvl1pPr>
          </a:lstStyle>
          <a:p>
            <a:r>
              <a:t>4: Unit Testing — JUnit 5</a:t>
            </a:r>
          </a:p>
        </p:txBody>
      </p:sp>
      <p:sp>
        <p:nvSpPr>
          <p:cNvPr id="274" name="Text 2"/>
          <p:cNvSpPr txBox="1"/>
          <p:nvPr/>
        </p:nvSpPr>
        <p:spPr>
          <a:xfrm>
            <a:off x="365759" y="700962"/>
            <a:ext cx="8412482"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4FC3F7"/>
                </a:solidFill>
              </a:defRPr>
            </a:lvl1pPr>
          </a:lstStyle>
          <a:p>
            <a:r>
              <a:t>Why test? Why JUnit 5? What is tested?</a:t>
            </a:r>
          </a:p>
        </p:txBody>
      </p:sp>
      <p:sp>
        <p:nvSpPr>
          <p:cNvPr id="275" name="Text 3"/>
          <p:cNvSpPr txBox="1"/>
          <p:nvPr/>
        </p:nvSpPr>
        <p:spPr>
          <a:xfrm>
            <a:off x="274320" y="1009703"/>
            <a:ext cx="8595360"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a:solidFill>
                  <a:srgbClr val="4FC3F7"/>
                </a:solidFill>
              </a:defRPr>
            </a:lvl1pPr>
          </a:lstStyle>
          <a:p>
            <a:r>
              <a:t>Why Unit Testing?</a:t>
            </a:r>
          </a:p>
        </p:txBody>
      </p:sp>
      <p:sp>
        <p:nvSpPr>
          <p:cNvPr id="276" name="Text 4"/>
          <p:cNvSpPr txBox="1"/>
          <p:nvPr/>
        </p:nvSpPr>
        <p:spPr>
          <a:xfrm>
            <a:off x="274320" y="1187109"/>
            <a:ext cx="8595360" cy="5335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900">
                <a:solidFill>
                  <a:srgbClr val="CADCFC"/>
                </a:solidFill>
              </a:defRPr>
            </a:pPr>
            <a:r>
              <a:t> Unit tests verify that every individual method works correctly in isolation before</a:t>
            </a:r>
          </a:p>
          <a:p>
            <a:pPr>
              <a:defRPr sz="900">
                <a:solidFill>
                  <a:srgbClr val="CADCFC"/>
                </a:solidFill>
              </a:defRPr>
            </a:pPr>
            <a:r>
              <a:t> the full system is assembled. In a DevOps pipeline, failing tests automatically block</a:t>
            </a:r>
          </a:p>
          <a:p>
            <a:pPr>
              <a:defRPr sz="900">
                <a:solidFill>
                  <a:srgbClr val="CADCFC"/>
                </a:solidFill>
              </a:defRPr>
            </a:pPr>
            <a:r>
              <a:t> a bad build from being packaged or deployed — catching bugs at the cheapest </a:t>
            </a:r>
          </a:p>
          <a:p>
            <a:pPr>
              <a:defRPr sz="900">
                <a:solidFill>
                  <a:srgbClr val="CADCFC"/>
                </a:solidFill>
              </a:defRPr>
            </a:pPr>
            <a:r>
              <a:t> possible stage.</a:t>
            </a:r>
          </a:p>
        </p:txBody>
      </p:sp>
      <p:sp>
        <p:nvSpPr>
          <p:cNvPr id="277" name="Text 5"/>
          <p:cNvSpPr txBox="1"/>
          <p:nvPr/>
        </p:nvSpPr>
        <p:spPr>
          <a:xfrm>
            <a:off x="274320" y="1798242"/>
            <a:ext cx="4114801"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a:solidFill>
                  <a:srgbClr val="4FC3F7"/>
                </a:solidFill>
              </a:defRPr>
            </a:lvl1pPr>
          </a:lstStyle>
          <a:p>
            <a:r>
              <a:t>Why JUnit 5?</a:t>
            </a:r>
          </a:p>
        </p:txBody>
      </p:sp>
      <p:sp>
        <p:nvSpPr>
          <p:cNvPr id="278" name="Text 6"/>
          <p:cNvSpPr txBox="1"/>
          <p:nvPr/>
        </p:nvSpPr>
        <p:spPr>
          <a:xfrm>
            <a:off x="274320" y="2089911"/>
            <a:ext cx="41148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  Industry-standard Java testing framework</a:t>
            </a:r>
          </a:p>
        </p:txBody>
      </p:sp>
      <p:sp>
        <p:nvSpPr>
          <p:cNvPr id="279" name="Text 7"/>
          <p:cNvSpPr txBox="1"/>
          <p:nvPr/>
        </p:nvSpPr>
        <p:spPr>
          <a:xfrm>
            <a:off x="274320" y="2364232"/>
            <a:ext cx="41148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  @BeforeEach sets up test fixtures automatically</a:t>
            </a:r>
          </a:p>
        </p:txBody>
      </p:sp>
      <p:sp>
        <p:nvSpPr>
          <p:cNvPr id="280" name="Text 8"/>
          <p:cNvSpPr txBox="1"/>
          <p:nvPr/>
        </p:nvSpPr>
        <p:spPr>
          <a:xfrm>
            <a:off x="274320" y="2638551"/>
            <a:ext cx="41148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  Native Maven Surefire plugin support</a:t>
            </a:r>
          </a:p>
        </p:txBody>
      </p:sp>
      <p:sp>
        <p:nvSpPr>
          <p:cNvPr id="281" name="Text 9"/>
          <p:cNvSpPr txBox="1"/>
          <p:nvPr/>
        </p:nvSpPr>
        <p:spPr>
          <a:xfrm>
            <a:off x="274320" y="2912871"/>
            <a:ext cx="41148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  Results published directly to Jenkins dashboard</a:t>
            </a:r>
          </a:p>
        </p:txBody>
      </p:sp>
      <p:sp>
        <p:nvSpPr>
          <p:cNvPr id="282" name="Text 10"/>
          <p:cNvSpPr txBox="1"/>
          <p:nvPr/>
        </p:nvSpPr>
        <p:spPr>
          <a:xfrm>
            <a:off x="274320" y="3187192"/>
            <a:ext cx="41148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  Parameterised and assertion-rich test API</a:t>
            </a:r>
          </a:p>
        </p:txBody>
      </p:sp>
      <p:sp>
        <p:nvSpPr>
          <p:cNvPr id="283" name="Text 11"/>
          <p:cNvSpPr txBox="1"/>
          <p:nvPr/>
        </p:nvSpPr>
        <p:spPr>
          <a:xfrm>
            <a:off x="4571999" y="700962"/>
            <a:ext cx="4389122"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a:solidFill>
                  <a:srgbClr val="4FC3F7"/>
                </a:solidFill>
              </a:defRPr>
            </a:lvl1pPr>
          </a:lstStyle>
          <a:p>
            <a:r>
              <a:t>10 Test Cases — What Was Tested</a:t>
            </a:r>
          </a:p>
        </p:txBody>
      </p:sp>
      <p:sp>
        <p:nvSpPr>
          <p:cNvPr id="284" name="Shape 12"/>
          <p:cNvSpPr/>
          <p:nvPr/>
        </p:nvSpPr>
        <p:spPr>
          <a:xfrm>
            <a:off x="4571999" y="1179576"/>
            <a:ext cx="4389122" cy="384049"/>
          </a:xfrm>
          <a:prstGeom prst="rect">
            <a:avLst/>
          </a:prstGeom>
          <a:solidFill>
            <a:srgbClr val="0F2557"/>
          </a:solidFill>
          <a:ln w="12700">
            <a:solidFill>
              <a:srgbClr val="16A34A"/>
            </a:solidFill>
          </a:ln>
        </p:spPr>
        <p:txBody>
          <a:bodyPr lIns="45719" rIns="45719"/>
          <a:lstStyle/>
          <a:p>
            <a:endParaRPr/>
          </a:p>
        </p:txBody>
      </p:sp>
      <p:sp>
        <p:nvSpPr>
          <p:cNvPr id="285" name="Shape 13"/>
          <p:cNvSpPr/>
          <p:nvPr/>
        </p:nvSpPr>
        <p:spPr>
          <a:xfrm>
            <a:off x="4572000" y="1167002"/>
            <a:ext cx="54864" cy="384049"/>
          </a:xfrm>
          <a:prstGeom prst="rect">
            <a:avLst/>
          </a:prstGeom>
          <a:solidFill>
            <a:srgbClr val="16A34A"/>
          </a:solidFill>
          <a:ln w="12700">
            <a:solidFill>
              <a:srgbClr val="16A34A"/>
            </a:solidFill>
          </a:ln>
        </p:spPr>
        <p:txBody>
          <a:bodyPr lIns="45719" rIns="45719"/>
          <a:lstStyle/>
          <a:p>
            <a:endParaRPr/>
          </a:p>
        </p:txBody>
      </p:sp>
      <p:sp>
        <p:nvSpPr>
          <p:cNvPr id="286" name="Text 14"/>
          <p:cNvSpPr txBox="1"/>
          <p:nvPr/>
        </p:nvSpPr>
        <p:spPr>
          <a:xfrm>
            <a:off x="5499211" y="1181900"/>
            <a:ext cx="8229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16A34A"/>
                </a:solidFill>
              </a:defRPr>
            </a:lvl1pPr>
          </a:lstStyle>
          <a:p>
            <a:r>
              <a:t>TC1–TC3</a:t>
            </a:r>
          </a:p>
        </p:txBody>
      </p:sp>
      <p:sp>
        <p:nvSpPr>
          <p:cNvPr id="287" name="Text 15"/>
          <p:cNvSpPr txBox="1"/>
          <p:nvPr/>
        </p:nvSpPr>
        <p:spPr>
          <a:xfrm>
            <a:off x="4663440" y="1181900"/>
            <a:ext cx="164592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16A34A"/>
                </a:solidFill>
              </a:defRPr>
            </a:lvl1pPr>
          </a:lstStyle>
          <a:p>
            <a:r>
              <a:t>Order Calculations</a:t>
            </a:r>
          </a:p>
        </p:txBody>
      </p:sp>
      <p:sp>
        <p:nvSpPr>
          <p:cNvPr id="288" name="Text 16"/>
          <p:cNvSpPr txBox="1"/>
          <p:nvPr/>
        </p:nvSpPr>
        <p:spPr>
          <a:xfrm>
            <a:off x="4663439" y="1333904"/>
            <a:ext cx="420624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a:solidFill>
                  <a:srgbClr val="CADCFC"/>
                </a:solidFill>
              </a:defRPr>
            </a:lvl1pPr>
          </a:lstStyle>
          <a:p>
            <a:r>
              <a:t>SubTotal, Tax, Total verified with known values</a:t>
            </a:r>
          </a:p>
        </p:txBody>
      </p:sp>
      <p:sp>
        <p:nvSpPr>
          <p:cNvPr id="289" name="Shape 17"/>
          <p:cNvSpPr/>
          <p:nvPr/>
        </p:nvSpPr>
        <p:spPr>
          <a:xfrm>
            <a:off x="4571999" y="1634590"/>
            <a:ext cx="4389122" cy="384049"/>
          </a:xfrm>
          <a:prstGeom prst="rect">
            <a:avLst/>
          </a:prstGeom>
          <a:solidFill>
            <a:srgbClr val="0F2557"/>
          </a:solidFill>
          <a:ln w="12700">
            <a:solidFill>
              <a:srgbClr val="16A34A"/>
            </a:solidFill>
          </a:ln>
        </p:spPr>
        <p:txBody>
          <a:bodyPr lIns="45719" rIns="45719"/>
          <a:lstStyle/>
          <a:p>
            <a:endParaRPr/>
          </a:p>
        </p:txBody>
      </p:sp>
      <p:sp>
        <p:nvSpPr>
          <p:cNvPr id="290" name="Shape 18"/>
          <p:cNvSpPr/>
          <p:nvPr/>
        </p:nvSpPr>
        <p:spPr>
          <a:xfrm>
            <a:off x="4572000" y="1639697"/>
            <a:ext cx="54864" cy="384049"/>
          </a:xfrm>
          <a:prstGeom prst="rect">
            <a:avLst/>
          </a:prstGeom>
          <a:solidFill>
            <a:srgbClr val="16A34A"/>
          </a:solidFill>
          <a:ln w="12700">
            <a:solidFill>
              <a:srgbClr val="16A34A"/>
            </a:solidFill>
          </a:ln>
        </p:spPr>
        <p:txBody>
          <a:bodyPr lIns="45719" rIns="45719"/>
          <a:lstStyle/>
          <a:p>
            <a:endParaRPr/>
          </a:p>
        </p:txBody>
      </p:sp>
      <p:sp>
        <p:nvSpPr>
          <p:cNvPr id="291" name="Text 19"/>
          <p:cNvSpPr txBox="1"/>
          <p:nvPr/>
        </p:nvSpPr>
        <p:spPr>
          <a:xfrm>
            <a:off x="5499211" y="1655571"/>
            <a:ext cx="8229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16A34A"/>
                </a:solidFill>
              </a:defRPr>
            </a:lvl1pPr>
          </a:lstStyle>
          <a:p>
            <a:r>
              <a:t>TC4</a:t>
            </a:r>
          </a:p>
        </p:txBody>
      </p:sp>
      <p:sp>
        <p:nvSpPr>
          <p:cNvPr id="292" name="Text 20"/>
          <p:cNvSpPr txBox="1"/>
          <p:nvPr/>
        </p:nvSpPr>
        <p:spPr>
          <a:xfrm>
            <a:off x="4663440" y="1655571"/>
            <a:ext cx="164592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16A34A"/>
                </a:solidFill>
              </a:defRPr>
            </a:lvl1pPr>
          </a:lstStyle>
          <a:p>
            <a:r>
              <a:t>Weight Calculation</a:t>
            </a:r>
          </a:p>
        </p:txBody>
      </p:sp>
      <p:sp>
        <p:nvSpPr>
          <p:cNvPr id="293" name="Text 21"/>
          <p:cNvSpPr txBox="1"/>
          <p:nvPr/>
        </p:nvSpPr>
        <p:spPr>
          <a:xfrm>
            <a:off x="4663439" y="1817878"/>
            <a:ext cx="420624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a:solidFill>
                  <a:srgbClr val="CADCFC"/>
                </a:solidFill>
              </a:defRPr>
            </a:lvl1pPr>
          </a:lstStyle>
          <a:p>
            <a:r>
              <a:t>calcTotalWeight() validated across multiple items</a:t>
            </a:r>
          </a:p>
        </p:txBody>
      </p:sp>
      <p:sp>
        <p:nvSpPr>
          <p:cNvPr id="294" name="Shape 22"/>
          <p:cNvSpPr/>
          <p:nvPr/>
        </p:nvSpPr>
        <p:spPr>
          <a:xfrm>
            <a:off x="4571999" y="2135124"/>
            <a:ext cx="4389122" cy="384049"/>
          </a:xfrm>
          <a:prstGeom prst="rect">
            <a:avLst/>
          </a:prstGeom>
          <a:solidFill>
            <a:srgbClr val="0F2557"/>
          </a:solidFill>
          <a:ln w="12700">
            <a:solidFill>
              <a:srgbClr val="D97706"/>
            </a:solidFill>
          </a:ln>
        </p:spPr>
        <p:txBody>
          <a:bodyPr lIns="45719" rIns="45719"/>
          <a:lstStyle/>
          <a:p>
            <a:endParaRPr/>
          </a:p>
        </p:txBody>
      </p:sp>
      <p:sp>
        <p:nvSpPr>
          <p:cNvPr id="295" name="Shape 23"/>
          <p:cNvSpPr/>
          <p:nvPr/>
        </p:nvSpPr>
        <p:spPr>
          <a:xfrm>
            <a:off x="4572000" y="2135124"/>
            <a:ext cx="54864" cy="384049"/>
          </a:xfrm>
          <a:prstGeom prst="rect">
            <a:avLst/>
          </a:prstGeom>
          <a:solidFill>
            <a:srgbClr val="D97706"/>
          </a:solidFill>
          <a:ln w="12700">
            <a:solidFill>
              <a:srgbClr val="D97706"/>
            </a:solidFill>
          </a:ln>
        </p:spPr>
        <p:txBody>
          <a:bodyPr lIns="45719" rIns="45719"/>
          <a:lstStyle/>
          <a:p>
            <a:endParaRPr/>
          </a:p>
        </p:txBody>
      </p:sp>
      <p:sp>
        <p:nvSpPr>
          <p:cNvPr id="296" name="Text 24"/>
          <p:cNvSpPr txBox="1"/>
          <p:nvPr/>
        </p:nvSpPr>
        <p:spPr>
          <a:xfrm>
            <a:off x="5222559" y="2176880"/>
            <a:ext cx="8229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D97706"/>
                </a:solidFill>
              </a:defRPr>
            </a:lvl1pPr>
          </a:lstStyle>
          <a:p>
            <a:r>
              <a:t>TC5</a:t>
            </a:r>
          </a:p>
        </p:txBody>
      </p:sp>
      <p:sp>
        <p:nvSpPr>
          <p:cNvPr id="297" name="Text 25"/>
          <p:cNvSpPr txBox="1"/>
          <p:nvPr/>
        </p:nvSpPr>
        <p:spPr>
          <a:xfrm>
            <a:off x="4663440" y="2176880"/>
            <a:ext cx="164592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D97706"/>
                </a:solidFill>
              </a:defRPr>
            </a:lvl1pPr>
          </a:lstStyle>
          <a:p>
            <a:r>
              <a:t>Stock Check</a:t>
            </a:r>
          </a:p>
        </p:txBody>
      </p:sp>
      <p:sp>
        <p:nvSpPr>
          <p:cNvPr id="298" name="Text 26"/>
          <p:cNvSpPr txBox="1"/>
          <p:nvPr/>
        </p:nvSpPr>
        <p:spPr>
          <a:xfrm>
            <a:off x="4663439" y="2304796"/>
            <a:ext cx="420624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a:solidFill>
                  <a:srgbClr val="CADCFC"/>
                </a:solidFill>
              </a:defRPr>
            </a:lvl1pPr>
          </a:lstStyle>
          <a:p>
            <a:r>
              <a:t>inStock() returns true/false based on stockQuantity</a:t>
            </a:r>
          </a:p>
        </p:txBody>
      </p:sp>
      <p:sp>
        <p:nvSpPr>
          <p:cNvPr id="299" name="Shape 27"/>
          <p:cNvSpPr/>
          <p:nvPr/>
        </p:nvSpPr>
        <p:spPr>
          <a:xfrm>
            <a:off x="4571999" y="2633472"/>
            <a:ext cx="4389122" cy="384049"/>
          </a:xfrm>
          <a:prstGeom prst="rect">
            <a:avLst/>
          </a:prstGeom>
          <a:solidFill>
            <a:srgbClr val="0F2557"/>
          </a:solidFill>
          <a:ln w="12700">
            <a:solidFill>
              <a:srgbClr val="D97706"/>
            </a:solidFill>
          </a:ln>
        </p:spPr>
        <p:txBody>
          <a:bodyPr lIns="45719" rIns="45719"/>
          <a:lstStyle/>
          <a:p>
            <a:endParaRPr/>
          </a:p>
        </p:txBody>
      </p:sp>
      <p:sp>
        <p:nvSpPr>
          <p:cNvPr id="300" name="Shape 28"/>
          <p:cNvSpPr/>
          <p:nvPr/>
        </p:nvSpPr>
        <p:spPr>
          <a:xfrm>
            <a:off x="4572000" y="2633472"/>
            <a:ext cx="54864" cy="384049"/>
          </a:xfrm>
          <a:prstGeom prst="rect">
            <a:avLst/>
          </a:prstGeom>
          <a:solidFill>
            <a:srgbClr val="D97706"/>
          </a:solidFill>
          <a:ln w="12700">
            <a:solidFill>
              <a:srgbClr val="D97706"/>
            </a:solidFill>
          </a:ln>
        </p:spPr>
        <p:txBody>
          <a:bodyPr lIns="45719" rIns="45719"/>
          <a:lstStyle/>
          <a:p>
            <a:endParaRPr/>
          </a:p>
        </p:txBody>
      </p:sp>
      <p:sp>
        <p:nvSpPr>
          <p:cNvPr id="301" name="Text 29"/>
          <p:cNvSpPr txBox="1"/>
          <p:nvPr/>
        </p:nvSpPr>
        <p:spPr>
          <a:xfrm>
            <a:off x="5562277" y="2679700"/>
            <a:ext cx="8229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D97706"/>
                </a:solidFill>
              </a:defRPr>
            </a:lvl1pPr>
          </a:lstStyle>
          <a:p>
            <a:r>
              <a:t>TC6</a:t>
            </a:r>
          </a:p>
        </p:txBody>
      </p:sp>
      <p:sp>
        <p:nvSpPr>
          <p:cNvPr id="302" name="Text 30"/>
          <p:cNvSpPr txBox="1"/>
          <p:nvPr/>
        </p:nvSpPr>
        <p:spPr>
          <a:xfrm>
            <a:off x="4663440" y="2671615"/>
            <a:ext cx="164592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D97706"/>
                </a:solidFill>
              </a:defRPr>
            </a:lvl1pPr>
          </a:lstStyle>
          <a:p>
            <a:r>
              <a:t>Check Authorization</a:t>
            </a:r>
          </a:p>
        </p:txBody>
      </p:sp>
      <p:sp>
        <p:nvSpPr>
          <p:cNvPr id="303" name="Text 31"/>
          <p:cNvSpPr txBox="1"/>
          <p:nvPr/>
        </p:nvSpPr>
        <p:spPr>
          <a:xfrm>
            <a:off x="4663440" y="2835147"/>
            <a:ext cx="420624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a:solidFill>
                  <a:srgbClr val="CADCFC"/>
                </a:solidFill>
              </a:defRPr>
            </a:lvl1pPr>
          </a:lstStyle>
          <a:p>
            <a:r>
              <a:t>9-digit bankID → authorized; invalid → rejected</a:t>
            </a:r>
          </a:p>
        </p:txBody>
      </p:sp>
      <p:sp>
        <p:nvSpPr>
          <p:cNvPr id="304" name="Shape 32"/>
          <p:cNvSpPr/>
          <p:nvPr/>
        </p:nvSpPr>
        <p:spPr>
          <a:xfrm>
            <a:off x="4571999" y="3090672"/>
            <a:ext cx="4389122" cy="384049"/>
          </a:xfrm>
          <a:prstGeom prst="rect">
            <a:avLst/>
          </a:prstGeom>
          <a:solidFill>
            <a:srgbClr val="0F2557"/>
          </a:solidFill>
          <a:ln w="12700">
            <a:solidFill>
              <a:srgbClr val="D97706"/>
            </a:solidFill>
          </a:ln>
        </p:spPr>
        <p:txBody>
          <a:bodyPr lIns="45719" rIns="45719"/>
          <a:lstStyle/>
          <a:p>
            <a:endParaRPr/>
          </a:p>
        </p:txBody>
      </p:sp>
      <p:sp>
        <p:nvSpPr>
          <p:cNvPr id="305" name="Shape 33"/>
          <p:cNvSpPr/>
          <p:nvPr/>
        </p:nvSpPr>
        <p:spPr>
          <a:xfrm>
            <a:off x="4572000" y="3090672"/>
            <a:ext cx="54864" cy="384049"/>
          </a:xfrm>
          <a:prstGeom prst="rect">
            <a:avLst/>
          </a:prstGeom>
          <a:solidFill>
            <a:srgbClr val="D97706"/>
          </a:solidFill>
          <a:ln w="12700">
            <a:solidFill>
              <a:srgbClr val="D97706"/>
            </a:solidFill>
          </a:ln>
        </p:spPr>
        <p:txBody>
          <a:bodyPr lIns="45719" rIns="45719"/>
          <a:lstStyle/>
          <a:p>
            <a:endParaRPr/>
          </a:p>
        </p:txBody>
      </p:sp>
      <p:sp>
        <p:nvSpPr>
          <p:cNvPr id="306" name="Text 34"/>
          <p:cNvSpPr txBox="1"/>
          <p:nvPr/>
        </p:nvSpPr>
        <p:spPr>
          <a:xfrm>
            <a:off x="5562277" y="3145536"/>
            <a:ext cx="8229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D97706"/>
                </a:solidFill>
              </a:defRPr>
            </a:lvl1pPr>
          </a:lstStyle>
          <a:p>
            <a:r>
              <a:t>TC7</a:t>
            </a:r>
          </a:p>
        </p:txBody>
      </p:sp>
      <p:sp>
        <p:nvSpPr>
          <p:cNvPr id="307" name="Text 35"/>
          <p:cNvSpPr txBox="1"/>
          <p:nvPr/>
        </p:nvSpPr>
        <p:spPr>
          <a:xfrm>
            <a:off x="4663440" y="3139744"/>
            <a:ext cx="164592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D97706"/>
                </a:solidFill>
              </a:defRPr>
            </a:lvl1pPr>
          </a:lstStyle>
          <a:p>
            <a:r>
              <a:t>Credit Authorization</a:t>
            </a:r>
          </a:p>
        </p:txBody>
      </p:sp>
      <p:sp>
        <p:nvSpPr>
          <p:cNvPr id="308" name="Text 36"/>
          <p:cNvSpPr txBox="1"/>
          <p:nvPr/>
        </p:nvSpPr>
        <p:spPr>
          <a:xfrm>
            <a:off x="4663440" y="3292348"/>
            <a:ext cx="420624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a:solidFill>
                  <a:srgbClr val="CADCFC"/>
                </a:solidFill>
              </a:defRPr>
            </a:lvl1pPr>
          </a:lstStyle>
          <a:p>
            <a:r>
              <a:t>Future expiry → authorized; past expiry → rejected</a:t>
            </a:r>
          </a:p>
        </p:txBody>
      </p:sp>
      <p:sp>
        <p:nvSpPr>
          <p:cNvPr id="309" name="Shape 37"/>
          <p:cNvSpPr/>
          <p:nvPr/>
        </p:nvSpPr>
        <p:spPr>
          <a:xfrm>
            <a:off x="4571999" y="3547871"/>
            <a:ext cx="4389122" cy="384049"/>
          </a:xfrm>
          <a:prstGeom prst="rect">
            <a:avLst/>
          </a:prstGeom>
          <a:solidFill>
            <a:srgbClr val="0F2557"/>
          </a:solidFill>
          <a:ln w="12700">
            <a:solidFill>
              <a:srgbClr val="3B82F6"/>
            </a:solidFill>
          </a:ln>
        </p:spPr>
        <p:txBody>
          <a:bodyPr lIns="45719" rIns="45719"/>
          <a:lstStyle/>
          <a:p>
            <a:endParaRPr/>
          </a:p>
        </p:txBody>
      </p:sp>
      <p:sp>
        <p:nvSpPr>
          <p:cNvPr id="310" name="Shape 38"/>
          <p:cNvSpPr/>
          <p:nvPr/>
        </p:nvSpPr>
        <p:spPr>
          <a:xfrm>
            <a:off x="4572000" y="3547871"/>
            <a:ext cx="54864" cy="384049"/>
          </a:xfrm>
          <a:prstGeom prst="rect">
            <a:avLst/>
          </a:prstGeom>
          <a:solidFill>
            <a:srgbClr val="3B82F6"/>
          </a:solidFill>
          <a:ln w="12700">
            <a:solidFill>
              <a:srgbClr val="3B82F6"/>
            </a:solidFill>
          </a:ln>
        </p:spPr>
        <p:txBody>
          <a:bodyPr lIns="45719" rIns="45719"/>
          <a:lstStyle/>
          <a:p>
            <a:endParaRPr/>
          </a:p>
        </p:txBody>
      </p:sp>
      <p:sp>
        <p:nvSpPr>
          <p:cNvPr id="311" name="Text 39"/>
          <p:cNvSpPr txBox="1"/>
          <p:nvPr/>
        </p:nvSpPr>
        <p:spPr>
          <a:xfrm>
            <a:off x="5618897" y="3584448"/>
            <a:ext cx="8229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3B82F6"/>
                </a:solidFill>
              </a:defRPr>
            </a:lvl1pPr>
          </a:lstStyle>
          <a:p>
            <a:r>
              <a:t>TC8</a:t>
            </a:r>
          </a:p>
        </p:txBody>
      </p:sp>
      <p:sp>
        <p:nvSpPr>
          <p:cNvPr id="312" name="Text 40"/>
          <p:cNvSpPr txBox="1"/>
          <p:nvPr/>
        </p:nvSpPr>
        <p:spPr>
          <a:xfrm>
            <a:off x="4663440" y="3584448"/>
            <a:ext cx="164592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3B82F6"/>
                </a:solidFill>
              </a:defRPr>
            </a:lvl1pPr>
          </a:lstStyle>
          <a:p>
            <a:r>
              <a:t>Customer–Order Link</a:t>
            </a:r>
          </a:p>
        </p:txBody>
      </p:sp>
      <p:sp>
        <p:nvSpPr>
          <p:cNvPr id="313" name="Text 41"/>
          <p:cNvSpPr txBox="1"/>
          <p:nvPr/>
        </p:nvSpPr>
        <p:spPr>
          <a:xfrm>
            <a:off x="4663440" y="3749548"/>
            <a:ext cx="420624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a:solidFill>
                  <a:srgbClr val="CADCFC"/>
                </a:solidFill>
              </a:defRPr>
            </a:lvl1pPr>
          </a:lstStyle>
          <a:p>
            <a:r>
              <a:t>addOrder() correctly associates order to customer</a:t>
            </a:r>
          </a:p>
        </p:txBody>
      </p:sp>
      <p:sp>
        <p:nvSpPr>
          <p:cNvPr id="314" name="Shape 42"/>
          <p:cNvSpPr/>
          <p:nvPr/>
        </p:nvSpPr>
        <p:spPr>
          <a:xfrm>
            <a:off x="4571999" y="4005071"/>
            <a:ext cx="4389122" cy="384049"/>
          </a:xfrm>
          <a:prstGeom prst="rect">
            <a:avLst/>
          </a:prstGeom>
          <a:solidFill>
            <a:srgbClr val="0F2557"/>
          </a:solidFill>
          <a:ln w="12700">
            <a:solidFill>
              <a:srgbClr val="3B82F6"/>
            </a:solidFill>
          </a:ln>
        </p:spPr>
        <p:txBody>
          <a:bodyPr lIns="45719" rIns="45719"/>
          <a:lstStyle/>
          <a:p>
            <a:endParaRPr/>
          </a:p>
        </p:txBody>
      </p:sp>
      <p:sp>
        <p:nvSpPr>
          <p:cNvPr id="315" name="Shape 43"/>
          <p:cNvSpPr/>
          <p:nvPr/>
        </p:nvSpPr>
        <p:spPr>
          <a:xfrm>
            <a:off x="4572000" y="4005071"/>
            <a:ext cx="54864" cy="384049"/>
          </a:xfrm>
          <a:prstGeom prst="rect">
            <a:avLst/>
          </a:prstGeom>
          <a:solidFill>
            <a:srgbClr val="3B82F6"/>
          </a:solidFill>
          <a:ln w="12700">
            <a:solidFill>
              <a:srgbClr val="3B82F6"/>
            </a:solidFill>
          </a:ln>
        </p:spPr>
        <p:txBody>
          <a:bodyPr lIns="45719" rIns="45719"/>
          <a:lstStyle/>
          <a:p>
            <a:endParaRPr/>
          </a:p>
        </p:txBody>
      </p:sp>
      <p:sp>
        <p:nvSpPr>
          <p:cNvPr id="316" name="Text 44"/>
          <p:cNvSpPr txBox="1"/>
          <p:nvPr/>
        </p:nvSpPr>
        <p:spPr>
          <a:xfrm>
            <a:off x="5222559" y="4023359"/>
            <a:ext cx="8229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3B82F6"/>
                </a:solidFill>
              </a:defRPr>
            </a:lvl1pPr>
          </a:lstStyle>
          <a:p>
            <a:r>
              <a:t>TC9</a:t>
            </a:r>
          </a:p>
        </p:txBody>
      </p:sp>
      <p:sp>
        <p:nvSpPr>
          <p:cNvPr id="317" name="Text 45"/>
          <p:cNvSpPr txBox="1"/>
          <p:nvPr/>
        </p:nvSpPr>
        <p:spPr>
          <a:xfrm>
            <a:off x="4663440" y="4023359"/>
            <a:ext cx="164592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3B82F6"/>
                </a:solidFill>
              </a:defRPr>
            </a:lvl1pPr>
          </a:lstStyle>
          <a:p>
            <a:r>
              <a:t>Cash Change</a:t>
            </a:r>
          </a:p>
        </p:txBody>
      </p:sp>
      <p:sp>
        <p:nvSpPr>
          <p:cNvPr id="318" name="Text 46"/>
          <p:cNvSpPr txBox="1"/>
          <p:nvPr/>
        </p:nvSpPr>
        <p:spPr>
          <a:xfrm>
            <a:off x="4663440" y="4206748"/>
            <a:ext cx="420624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a:solidFill>
                  <a:srgbClr val="CADCFC"/>
                </a:solidFill>
              </a:defRPr>
            </a:lvl1pPr>
          </a:lstStyle>
          <a:p>
            <a:r>
              <a:t>getChange() = cashTendered − amount correctly computed</a:t>
            </a:r>
          </a:p>
        </p:txBody>
      </p:sp>
      <p:sp>
        <p:nvSpPr>
          <p:cNvPr id="319" name="Shape 47"/>
          <p:cNvSpPr/>
          <p:nvPr/>
        </p:nvSpPr>
        <p:spPr>
          <a:xfrm>
            <a:off x="4571999" y="4462271"/>
            <a:ext cx="4389122" cy="384049"/>
          </a:xfrm>
          <a:prstGeom prst="rect">
            <a:avLst/>
          </a:prstGeom>
          <a:solidFill>
            <a:srgbClr val="0F2557"/>
          </a:solidFill>
          <a:ln w="12700">
            <a:solidFill>
              <a:srgbClr val="3B82F6"/>
            </a:solidFill>
          </a:ln>
        </p:spPr>
        <p:txBody>
          <a:bodyPr lIns="45719" rIns="45719"/>
          <a:lstStyle/>
          <a:p>
            <a:endParaRPr/>
          </a:p>
        </p:txBody>
      </p:sp>
      <p:sp>
        <p:nvSpPr>
          <p:cNvPr id="320" name="Shape 48"/>
          <p:cNvSpPr/>
          <p:nvPr/>
        </p:nvSpPr>
        <p:spPr>
          <a:xfrm>
            <a:off x="4572000" y="4462271"/>
            <a:ext cx="54864" cy="384049"/>
          </a:xfrm>
          <a:prstGeom prst="rect">
            <a:avLst/>
          </a:prstGeom>
          <a:solidFill>
            <a:srgbClr val="3B82F6"/>
          </a:solidFill>
          <a:ln w="12700">
            <a:solidFill>
              <a:srgbClr val="3B82F6"/>
            </a:solidFill>
          </a:ln>
        </p:spPr>
        <p:txBody>
          <a:bodyPr lIns="45719" rIns="45719"/>
          <a:lstStyle/>
          <a:p>
            <a:endParaRPr/>
          </a:p>
        </p:txBody>
      </p:sp>
      <p:sp>
        <p:nvSpPr>
          <p:cNvPr id="321" name="Text 49"/>
          <p:cNvSpPr txBox="1"/>
          <p:nvPr/>
        </p:nvSpPr>
        <p:spPr>
          <a:xfrm>
            <a:off x="5293334" y="4489196"/>
            <a:ext cx="8229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3B82F6"/>
                </a:solidFill>
              </a:defRPr>
            </a:lvl1pPr>
          </a:lstStyle>
          <a:p>
            <a:r>
              <a:t>TC10</a:t>
            </a:r>
          </a:p>
        </p:txBody>
      </p:sp>
      <p:sp>
        <p:nvSpPr>
          <p:cNvPr id="322" name="Text 50"/>
          <p:cNvSpPr txBox="1"/>
          <p:nvPr/>
        </p:nvSpPr>
        <p:spPr>
          <a:xfrm>
            <a:off x="4663440" y="4489196"/>
            <a:ext cx="164592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3B82F6"/>
                </a:solidFill>
              </a:defRPr>
            </a:lvl1pPr>
          </a:lstStyle>
          <a:p>
            <a:r>
              <a:t>Status Update</a:t>
            </a:r>
          </a:p>
        </p:txBody>
      </p:sp>
      <p:sp>
        <p:nvSpPr>
          <p:cNvPr id="323" name="Text 51"/>
          <p:cNvSpPr txBox="1"/>
          <p:nvPr/>
        </p:nvSpPr>
        <p:spPr>
          <a:xfrm>
            <a:off x="4663440" y="4663948"/>
            <a:ext cx="420624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a:solidFill>
                  <a:srgbClr val="CADCFC"/>
                </a:solidFill>
              </a:defRPr>
            </a:lvl1pPr>
          </a:lstStyle>
          <a:p>
            <a:r>
              <a:t>setStatus() reflects new value immediately</a:t>
            </a:r>
          </a:p>
        </p:txBody>
      </p:sp>
      <p:sp>
        <p:nvSpPr>
          <p:cNvPr id="324" name="Shape 52"/>
          <p:cNvSpPr/>
          <p:nvPr/>
        </p:nvSpPr>
        <p:spPr>
          <a:xfrm>
            <a:off x="274320" y="3429000"/>
            <a:ext cx="4114801" cy="457200"/>
          </a:xfrm>
          <a:prstGeom prst="rect">
            <a:avLst/>
          </a:prstGeom>
          <a:solidFill>
            <a:srgbClr val="16A34A"/>
          </a:solidFill>
          <a:ln w="12700">
            <a:solidFill>
              <a:srgbClr val="16A34A"/>
            </a:solidFill>
          </a:ln>
          <a:effectLst>
            <a:outerShdw blurRad="101600" dist="38100" dir="8100000" rotWithShape="0">
              <a:srgbClr val="000000">
                <a:alpha val="18000"/>
              </a:srgbClr>
            </a:outerShdw>
          </a:effectLst>
        </p:spPr>
        <p:txBody>
          <a:bodyPr lIns="45719" rIns="45719"/>
          <a:lstStyle/>
          <a:p>
            <a:endParaRPr/>
          </a:p>
        </p:txBody>
      </p:sp>
      <p:sp>
        <p:nvSpPr>
          <p:cNvPr id="325" name="Text 53"/>
          <p:cNvSpPr txBox="1"/>
          <p:nvPr/>
        </p:nvSpPr>
        <p:spPr>
          <a:xfrm>
            <a:off x="274320" y="3524250"/>
            <a:ext cx="4114801" cy="266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a:solidFill>
                  <a:srgbClr val="FFFFFF"/>
                </a:solidFill>
              </a:defRPr>
            </a:lvl1pPr>
          </a:lstStyle>
          <a:p>
            <a:r>
              <a:t>All 10 Tests Passed ✅   BUILD SUCCESS</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2FF"/>
        </a:solidFill>
        <a:effectLst/>
      </p:bgPr>
    </p:bg>
    <p:spTree>
      <p:nvGrpSpPr>
        <p:cNvPr id="1" name=""/>
        <p:cNvGrpSpPr/>
        <p:nvPr/>
      </p:nvGrpSpPr>
      <p:grpSpPr>
        <a:xfrm>
          <a:off x="0" y="0"/>
          <a:ext cx="0" cy="0"/>
          <a:chOff x="0" y="0"/>
          <a:chExt cx="0" cy="0"/>
        </a:xfrm>
      </p:grpSpPr>
      <p:sp>
        <p:nvSpPr>
          <p:cNvPr id="327" name="Shape 0"/>
          <p:cNvSpPr/>
          <p:nvPr/>
        </p:nvSpPr>
        <p:spPr>
          <a:xfrm>
            <a:off x="0" y="-1"/>
            <a:ext cx="9144000" cy="73154"/>
          </a:xfrm>
          <a:prstGeom prst="rect">
            <a:avLst/>
          </a:prstGeom>
          <a:solidFill>
            <a:srgbClr val="1E2761"/>
          </a:solidFill>
          <a:ln w="12700">
            <a:solidFill>
              <a:srgbClr val="1E2761"/>
            </a:solidFill>
          </a:ln>
        </p:spPr>
        <p:txBody>
          <a:bodyPr lIns="45719" rIns="45719"/>
          <a:lstStyle/>
          <a:p>
            <a:endParaRPr/>
          </a:p>
        </p:txBody>
      </p:sp>
      <p:sp>
        <p:nvSpPr>
          <p:cNvPr id="328" name="Shape 1"/>
          <p:cNvSpPr/>
          <p:nvPr/>
        </p:nvSpPr>
        <p:spPr>
          <a:xfrm>
            <a:off x="0" y="73151"/>
            <a:ext cx="64008" cy="5070350"/>
          </a:xfrm>
          <a:prstGeom prst="rect">
            <a:avLst/>
          </a:prstGeom>
          <a:solidFill>
            <a:srgbClr val="1E2761"/>
          </a:solidFill>
          <a:ln w="12700">
            <a:solidFill>
              <a:srgbClr val="1E2761"/>
            </a:solidFill>
          </a:ln>
        </p:spPr>
        <p:txBody>
          <a:bodyPr lIns="45719" rIns="45719"/>
          <a:lstStyle/>
          <a:p>
            <a:endParaRPr/>
          </a:p>
        </p:txBody>
      </p:sp>
      <p:sp>
        <p:nvSpPr>
          <p:cNvPr id="329" name="Text 2"/>
          <p:cNvSpPr txBox="1"/>
          <p:nvPr/>
        </p:nvSpPr>
        <p:spPr>
          <a:xfrm>
            <a:off x="274320" y="233532"/>
            <a:ext cx="8595360" cy="3010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400" b="1">
                <a:solidFill>
                  <a:srgbClr val="1E2761"/>
                </a:solidFill>
              </a:defRPr>
            </a:lvl1pPr>
          </a:lstStyle>
          <a:p>
            <a:r>
              <a:t>5: Containerisation — Docker</a:t>
            </a:r>
          </a:p>
        </p:txBody>
      </p:sp>
      <p:sp>
        <p:nvSpPr>
          <p:cNvPr id="330" name="Text 3"/>
          <p:cNvSpPr txBox="1"/>
          <p:nvPr/>
        </p:nvSpPr>
        <p:spPr>
          <a:xfrm>
            <a:off x="274320" y="700962"/>
            <a:ext cx="8595360"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4A3B8"/>
                </a:solidFill>
              </a:defRPr>
            </a:lvl1pPr>
          </a:lstStyle>
          <a:p>
            <a:r>
              <a:t>Why containers? How is the application packaged?</a:t>
            </a:r>
          </a:p>
        </p:txBody>
      </p:sp>
      <p:sp>
        <p:nvSpPr>
          <p:cNvPr id="331" name="Shape 4"/>
          <p:cNvSpPr/>
          <p:nvPr/>
        </p:nvSpPr>
        <p:spPr>
          <a:xfrm>
            <a:off x="201167" y="960119"/>
            <a:ext cx="4206242" cy="1298449"/>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332" name="Shape 5"/>
          <p:cNvSpPr/>
          <p:nvPr/>
        </p:nvSpPr>
        <p:spPr>
          <a:xfrm>
            <a:off x="201168" y="960119"/>
            <a:ext cx="64009" cy="1298449"/>
          </a:xfrm>
          <a:prstGeom prst="rect">
            <a:avLst/>
          </a:prstGeom>
          <a:solidFill>
            <a:srgbClr val="0891B2"/>
          </a:solidFill>
          <a:ln w="12700">
            <a:solidFill>
              <a:srgbClr val="0891B2"/>
            </a:solidFill>
          </a:ln>
        </p:spPr>
        <p:txBody>
          <a:bodyPr lIns="45719" rIns="45719"/>
          <a:lstStyle/>
          <a:p>
            <a:endParaRPr/>
          </a:p>
        </p:txBody>
      </p:sp>
      <p:sp>
        <p:nvSpPr>
          <p:cNvPr id="333" name="Text 6"/>
          <p:cNvSpPr txBox="1"/>
          <p:nvPr/>
        </p:nvSpPr>
        <p:spPr>
          <a:xfrm>
            <a:off x="365759" y="1092752"/>
            <a:ext cx="3977642"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0891B2"/>
                </a:solidFill>
              </a:defRPr>
            </a:lvl1pPr>
          </a:lstStyle>
          <a:p>
            <a:r>
              <a:t>Why Docker?</a:t>
            </a:r>
          </a:p>
        </p:txBody>
      </p:sp>
      <p:sp>
        <p:nvSpPr>
          <p:cNvPr id="334" name="Text 7"/>
          <p:cNvSpPr txBox="1"/>
          <p:nvPr/>
        </p:nvSpPr>
        <p:spPr>
          <a:xfrm>
            <a:off x="365759" y="1479717"/>
            <a:ext cx="3977642" cy="5335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1E293B"/>
                </a:solidFill>
              </a:defRPr>
            </a:lvl1pPr>
          </a:lstStyle>
          <a:p>
            <a:r>
              <a:t>Docker solves the 'works on my machine' problem by packaging the application and all its runtime dependencies into a single portable image. The same image runs identically on a developer laptop, a CI server, or a cloud VM — eliminating environment-specific bugs.</a:t>
            </a:r>
          </a:p>
        </p:txBody>
      </p:sp>
      <p:sp>
        <p:nvSpPr>
          <p:cNvPr id="335" name="Text 8"/>
          <p:cNvSpPr txBox="1"/>
          <p:nvPr/>
        </p:nvSpPr>
        <p:spPr>
          <a:xfrm>
            <a:off x="201167" y="2418632"/>
            <a:ext cx="4206242"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1E2761"/>
                </a:solidFill>
              </a:defRPr>
            </a:lvl1pPr>
          </a:lstStyle>
          <a:p>
            <a:r>
              <a:t>Multi-Stage Dockerfile — Why Two Stages?</a:t>
            </a:r>
          </a:p>
        </p:txBody>
      </p:sp>
      <p:sp>
        <p:nvSpPr>
          <p:cNvPr id="336" name="Shape 9"/>
          <p:cNvSpPr/>
          <p:nvPr/>
        </p:nvSpPr>
        <p:spPr>
          <a:xfrm>
            <a:off x="201168" y="2670048"/>
            <a:ext cx="2011679" cy="1097281"/>
          </a:xfrm>
          <a:prstGeom prst="rect">
            <a:avLst/>
          </a:prstGeom>
          <a:solidFill>
            <a:srgbClr val="FFFFFF"/>
          </a:solidFill>
          <a:ln w="19050">
            <a:solidFill>
              <a:srgbClr val="7C3AED"/>
            </a:solidFill>
          </a:ln>
          <a:effectLst>
            <a:outerShdw blurRad="101600" dist="38100" dir="8100000" rotWithShape="0">
              <a:srgbClr val="000000">
                <a:alpha val="18000"/>
              </a:srgbClr>
            </a:outerShdw>
          </a:effectLst>
        </p:spPr>
        <p:txBody>
          <a:bodyPr lIns="45719" rIns="45719"/>
          <a:lstStyle/>
          <a:p>
            <a:endParaRPr/>
          </a:p>
        </p:txBody>
      </p:sp>
      <p:sp>
        <p:nvSpPr>
          <p:cNvPr id="337" name="Shape 10"/>
          <p:cNvSpPr/>
          <p:nvPr/>
        </p:nvSpPr>
        <p:spPr>
          <a:xfrm>
            <a:off x="201168" y="2670048"/>
            <a:ext cx="2011679" cy="274321"/>
          </a:xfrm>
          <a:prstGeom prst="rect">
            <a:avLst/>
          </a:prstGeom>
          <a:solidFill>
            <a:srgbClr val="7C3AED"/>
          </a:solidFill>
          <a:ln w="12700">
            <a:solidFill>
              <a:srgbClr val="7C3AED"/>
            </a:solidFill>
          </a:ln>
        </p:spPr>
        <p:txBody>
          <a:bodyPr lIns="45719" rIns="45719"/>
          <a:lstStyle/>
          <a:p>
            <a:endParaRPr/>
          </a:p>
        </p:txBody>
      </p:sp>
      <p:sp>
        <p:nvSpPr>
          <p:cNvPr id="338" name="Text 11"/>
          <p:cNvSpPr txBox="1"/>
          <p:nvPr/>
        </p:nvSpPr>
        <p:spPr>
          <a:xfrm>
            <a:off x="201168" y="2743708"/>
            <a:ext cx="201167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b="1">
                <a:solidFill>
                  <a:srgbClr val="FFFFFF"/>
                </a:solidFill>
              </a:defRPr>
            </a:lvl1pPr>
          </a:lstStyle>
          <a:p>
            <a:r>
              <a:t>Stage 1: Build Stage (Maven)</a:t>
            </a:r>
          </a:p>
        </p:txBody>
      </p:sp>
      <p:sp>
        <p:nvSpPr>
          <p:cNvPr id="339" name="Text 12"/>
          <p:cNvSpPr txBox="1"/>
          <p:nvPr/>
        </p:nvSpPr>
        <p:spPr>
          <a:xfrm>
            <a:off x="274319" y="3103915"/>
            <a:ext cx="1874522" cy="485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1E293B"/>
                </a:solidFill>
              </a:defRPr>
            </a:lvl1pPr>
          </a:lstStyle>
          <a:p>
            <a:r>
              <a:t>Uses the full Maven + JDK image to compile source code and produce the JAR. This stage is heavy (~600 MB) but is discarded after the build.</a:t>
            </a:r>
          </a:p>
        </p:txBody>
      </p:sp>
      <p:sp>
        <p:nvSpPr>
          <p:cNvPr id="340" name="Text 13"/>
          <p:cNvSpPr txBox="1"/>
          <p:nvPr/>
        </p:nvSpPr>
        <p:spPr>
          <a:xfrm>
            <a:off x="2212848" y="3041712"/>
            <a:ext cx="256033"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400">
                <a:solidFill>
                  <a:srgbClr val="94A3B8"/>
                </a:solidFill>
              </a:defRPr>
            </a:lvl1pPr>
          </a:lstStyle>
          <a:p>
            <a:r>
              <a:t>→</a:t>
            </a:r>
          </a:p>
        </p:txBody>
      </p:sp>
      <p:sp>
        <p:nvSpPr>
          <p:cNvPr id="341" name="Shape 14"/>
          <p:cNvSpPr/>
          <p:nvPr/>
        </p:nvSpPr>
        <p:spPr>
          <a:xfrm>
            <a:off x="2350007" y="2670048"/>
            <a:ext cx="2011680" cy="1097281"/>
          </a:xfrm>
          <a:prstGeom prst="rect">
            <a:avLst/>
          </a:prstGeom>
          <a:solidFill>
            <a:srgbClr val="FFFFFF"/>
          </a:solidFill>
          <a:ln w="19050">
            <a:solidFill>
              <a:srgbClr val="0891B2"/>
            </a:solidFill>
          </a:ln>
          <a:effectLst>
            <a:outerShdw blurRad="101600" dist="38100" dir="8100000" rotWithShape="0">
              <a:srgbClr val="000000">
                <a:alpha val="18000"/>
              </a:srgbClr>
            </a:outerShdw>
          </a:effectLst>
        </p:spPr>
        <p:txBody>
          <a:bodyPr lIns="45719" rIns="45719"/>
          <a:lstStyle/>
          <a:p>
            <a:endParaRPr/>
          </a:p>
        </p:txBody>
      </p:sp>
      <p:sp>
        <p:nvSpPr>
          <p:cNvPr id="342" name="Shape 15"/>
          <p:cNvSpPr/>
          <p:nvPr/>
        </p:nvSpPr>
        <p:spPr>
          <a:xfrm>
            <a:off x="2350007" y="2670048"/>
            <a:ext cx="2011680" cy="274321"/>
          </a:xfrm>
          <a:prstGeom prst="rect">
            <a:avLst/>
          </a:prstGeom>
          <a:solidFill>
            <a:srgbClr val="0891B2"/>
          </a:solidFill>
          <a:ln w="12700">
            <a:solidFill>
              <a:srgbClr val="0891B2"/>
            </a:solidFill>
          </a:ln>
        </p:spPr>
        <p:txBody>
          <a:bodyPr lIns="45719" rIns="45719"/>
          <a:lstStyle/>
          <a:p>
            <a:endParaRPr/>
          </a:p>
        </p:txBody>
      </p:sp>
      <p:sp>
        <p:nvSpPr>
          <p:cNvPr id="343" name="Text 16"/>
          <p:cNvSpPr txBox="1"/>
          <p:nvPr/>
        </p:nvSpPr>
        <p:spPr>
          <a:xfrm>
            <a:off x="2350007" y="2743708"/>
            <a:ext cx="201168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b="1">
                <a:solidFill>
                  <a:srgbClr val="FFFFFF"/>
                </a:solidFill>
              </a:defRPr>
            </a:lvl1pPr>
          </a:lstStyle>
          <a:p>
            <a:r>
              <a:t>Stage 2: Runtime Stage (JRE only)</a:t>
            </a:r>
          </a:p>
        </p:txBody>
      </p:sp>
      <p:sp>
        <p:nvSpPr>
          <p:cNvPr id="344" name="Text 17"/>
          <p:cNvSpPr txBox="1"/>
          <p:nvPr/>
        </p:nvSpPr>
        <p:spPr>
          <a:xfrm>
            <a:off x="2423159" y="3103915"/>
            <a:ext cx="1874522" cy="485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1E293B"/>
                </a:solidFill>
              </a:defRPr>
            </a:lvl1pPr>
          </a:lstStyle>
          <a:p>
            <a:r>
              <a:t>Copies only the compiled JAR into a lightweight JRE image (~200 MB). No build tools, no source code — just what's needed to run the app.</a:t>
            </a:r>
          </a:p>
        </p:txBody>
      </p:sp>
      <p:sp>
        <p:nvSpPr>
          <p:cNvPr id="345" name="Shape 18"/>
          <p:cNvSpPr/>
          <p:nvPr/>
        </p:nvSpPr>
        <p:spPr>
          <a:xfrm>
            <a:off x="201167" y="3840479"/>
            <a:ext cx="4206242" cy="1097281"/>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346" name="Shape 19"/>
          <p:cNvSpPr/>
          <p:nvPr/>
        </p:nvSpPr>
        <p:spPr>
          <a:xfrm>
            <a:off x="201168" y="3840479"/>
            <a:ext cx="64009" cy="1097281"/>
          </a:xfrm>
          <a:prstGeom prst="rect">
            <a:avLst/>
          </a:prstGeom>
          <a:solidFill>
            <a:srgbClr val="1E2761"/>
          </a:solidFill>
          <a:ln w="12700">
            <a:solidFill>
              <a:srgbClr val="1E2761"/>
            </a:solidFill>
          </a:ln>
        </p:spPr>
        <p:txBody>
          <a:bodyPr lIns="45719" rIns="45719"/>
          <a:lstStyle/>
          <a:p>
            <a:endParaRPr/>
          </a:p>
        </p:txBody>
      </p:sp>
      <p:sp>
        <p:nvSpPr>
          <p:cNvPr id="347" name="Text 20"/>
          <p:cNvSpPr txBox="1"/>
          <p:nvPr/>
        </p:nvSpPr>
        <p:spPr>
          <a:xfrm>
            <a:off x="365759" y="3973112"/>
            <a:ext cx="3977642"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1E2761"/>
                </a:solidFill>
              </a:defRPr>
            </a:lvl1pPr>
          </a:lstStyle>
          <a:p>
            <a:r>
              <a:t>Key Docker Commands Used</a:t>
            </a:r>
          </a:p>
        </p:txBody>
      </p:sp>
      <p:sp>
        <p:nvSpPr>
          <p:cNvPr id="348" name="Text 21"/>
          <p:cNvSpPr txBox="1"/>
          <p:nvPr/>
        </p:nvSpPr>
        <p:spPr>
          <a:xfrm>
            <a:off x="365759" y="4189643"/>
            <a:ext cx="3977642" cy="6732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900">
                <a:solidFill>
                  <a:srgbClr val="1E293B"/>
                </a:solidFill>
              </a:defRPr>
            </a:pPr>
            <a:r>
              <a:t>docker build  →  Creates the image from Dockerfile</a:t>
            </a:r>
          </a:p>
          <a:p>
            <a:pPr>
              <a:defRPr sz="900">
                <a:solidFill>
                  <a:srgbClr val="1E293B"/>
                </a:solidFill>
              </a:defRPr>
            </a:pPr>
            <a:r>
              <a:t>docker tag  →  Labels image for Docker Hub</a:t>
            </a:r>
          </a:p>
          <a:p>
            <a:pPr>
              <a:defRPr sz="900">
                <a:solidFill>
                  <a:srgbClr val="1E293B"/>
                </a:solidFill>
              </a:defRPr>
            </a:pPr>
            <a:r>
              <a:t>docker push  →  Uploads image to registry</a:t>
            </a:r>
          </a:p>
          <a:p>
            <a:pPr>
              <a:defRPr sz="900">
                <a:solidFill>
                  <a:srgbClr val="1E293B"/>
                </a:solidFill>
              </a:defRPr>
            </a:pPr>
            <a:r>
              <a:t>docker run  →  Starts the container</a:t>
            </a:r>
          </a:p>
          <a:p>
            <a:pPr>
              <a:defRPr sz="900">
                <a:solidFill>
                  <a:srgbClr val="1E293B"/>
                </a:solidFill>
              </a:defRPr>
            </a:pPr>
            <a:r>
              <a:t>docker logs  →  Verifies application output</a:t>
            </a:r>
          </a:p>
        </p:txBody>
      </p:sp>
      <p:sp>
        <p:nvSpPr>
          <p:cNvPr id="349" name="Text 22"/>
          <p:cNvSpPr txBox="1"/>
          <p:nvPr/>
        </p:nvSpPr>
        <p:spPr>
          <a:xfrm>
            <a:off x="4571999" y="1021002"/>
            <a:ext cx="4389122"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a:solidFill>
                  <a:srgbClr val="1E2761"/>
                </a:solidFill>
              </a:defRPr>
            </a:lvl1pPr>
          </a:lstStyle>
          <a:p>
            <a:r>
              <a:t>What Containerisation Achieved</a:t>
            </a:r>
          </a:p>
        </p:txBody>
      </p:sp>
      <p:sp>
        <p:nvSpPr>
          <p:cNvPr id="350" name="Shape 23"/>
          <p:cNvSpPr/>
          <p:nvPr/>
        </p:nvSpPr>
        <p:spPr>
          <a:xfrm>
            <a:off x="4571999" y="1261872"/>
            <a:ext cx="4389122" cy="402337"/>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351" name="Text 24"/>
          <p:cNvSpPr txBox="1"/>
          <p:nvPr/>
        </p:nvSpPr>
        <p:spPr>
          <a:xfrm>
            <a:off x="4645152" y="1326896"/>
            <a:ext cx="274321" cy="254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200"/>
            </a:lvl1pPr>
          </a:lstStyle>
          <a:p>
            <a:r>
              <a:t>✅</a:t>
            </a:r>
          </a:p>
        </p:txBody>
      </p:sp>
      <p:sp>
        <p:nvSpPr>
          <p:cNvPr id="352" name="Text 25"/>
          <p:cNvSpPr txBox="1"/>
          <p:nvPr/>
        </p:nvSpPr>
        <p:spPr>
          <a:xfrm>
            <a:off x="4956047" y="1408683"/>
            <a:ext cx="393192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1E293B"/>
                </a:solidFill>
              </a:defRPr>
            </a:lvl1pPr>
          </a:lstStyle>
          <a:p>
            <a:r>
              <a:t>Portable image — runs on any machine with Docker installed</a:t>
            </a:r>
          </a:p>
        </p:txBody>
      </p:sp>
      <p:sp>
        <p:nvSpPr>
          <p:cNvPr id="353" name="Shape 26"/>
          <p:cNvSpPr/>
          <p:nvPr/>
        </p:nvSpPr>
        <p:spPr>
          <a:xfrm>
            <a:off x="4571999" y="1737360"/>
            <a:ext cx="4389122" cy="402337"/>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354" name="Text 27"/>
          <p:cNvSpPr txBox="1"/>
          <p:nvPr/>
        </p:nvSpPr>
        <p:spPr>
          <a:xfrm>
            <a:off x="4645152" y="1802384"/>
            <a:ext cx="274321" cy="254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200"/>
            </a:lvl1pPr>
          </a:lstStyle>
          <a:p>
            <a:r>
              <a:t>✅</a:t>
            </a:r>
          </a:p>
        </p:txBody>
      </p:sp>
      <p:sp>
        <p:nvSpPr>
          <p:cNvPr id="355" name="Text 28"/>
          <p:cNvSpPr txBox="1"/>
          <p:nvPr/>
        </p:nvSpPr>
        <p:spPr>
          <a:xfrm>
            <a:off x="4956047" y="1884171"/>
            <a:ext cx="393192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1E293B"/>
                </a:solidFill>
              </a:defRPr>
            </a:lvl1pPr>
          </a:lstStyle>
          <a:p>
            <a:r>
              <a:t>Reproducible builds — same JAR every time, no environment drift</a:t>
            </a:r>
          </a:p>
        </p:txBody>
      </p:sp>
      <p:sp>
        <p:nvSpPr>
          <p:cNvPr id="356" name="Shape 29"/>
          <p:cNvSpPr/>
          <p:nvPr/>
        </p:nvSpPr>
        <p:spPr>
          <a:xfrm>
            <a:off x="4571999" y="2212848"/>
            <a:ext cx="4389122" cy="402337"/>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357" name="Text 30"/>
          <p:cNvSpPr txBox="1"/>
          <p:nvPr/>
        </p:nvSpPr>
        <p:spPr>
          <a:xfrm>
            <a:off x="4645152" y="2277871"/>
            <a:ext cx="274321" cy="254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200"/>
            </a:lvl1pPr>
          </a:lstStyle>
          <a:p>
            <a:r>
              <a:t>✅</a:t>
            </a:r>
          </a:p>
        </p:txBody>
      </p:sp>
      <p:sp>
        <p:nvSpPr>
          <p:cNvPr id="358" name="Text 31"/>
          <p:cNvSpPr txBox="1"/>
          <p:nvPr/>
        </p:nvSpPr>
        <p:spPr>
          <a:xfrm>
            <a:off x="4956047" y="2359659"/>
            <a:ext cx="393192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1E293B"/>
                </a:solidFill>
              </a:defRPr>
            </a:lvl1pPr>
          </a:lstStyle>
          <a:p>
            <a:r>
              <a:t>Image pushed to Docker Hub — accessible from any cloud instance</a:t>
            </a:r>
          </a:p>
        </p:txBody>
      </p:sp>
      <p:sp>
        <p:nvSpPr>
          <p:cNvPr id="359" name="Shape 32"/>
          <p:cNvSpPr/>
          <p:nvPr/>
        </p:nvSpPr>
        <p:spPr>
          <a:xfrm>
            <a:off x="4571999" y="2688335"/>
            <a:ext cx="4389122" cy="402337"/>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360" name="Text 33"/>
          <p:cNvSpPr txBox="1"/>
          <p:nvPr/>
        </p:nvSpPr>
        <p:spPr>
          <a:xfrm>
            <a:off x="4645152" y="2753359"/>
            <a:ext cx="274321" cy="254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200"/>
            </a:lvl1pPr>
          </a:lstStyle>
          <a:p>
            <a:r>
              <a:t>✅</a:t>
            </a:r>
          </a:p>
        </p:txBody>
      </p:sp>
      <p:sp>
        <p:nvSpPr>
          <p:cNvPr id="361" name="Text 34"/>
          <p:cNvSpPr txBox="1"/>
          <p:nvPr/>
        </p:nvSpPr>
        <p:spPr>
          <a:xfrm>
            <a:off x="4956047" y="2835147"/>
            <a:ext cx="393192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1E293B"/>
                </a:solidFill>
              </a:defRPr>
            </a:lvl1pPr>
          </a:lstStyle>
          <a:p>
            <a:r>
              <a:t>Lightweight runtime — only JRE included, not full JDK or Maven</a:t>
            </a:r>
          </a:p>
        </p:txBody>
      </p:sp>
      <p:sp>
        <p:nvSpPr>
          <p:cNvPr id="362" name="Shape 35"/>
          <p:cNvSpPr/>
          <p:nvPr/>
        </p:nvSpPr>
        <p:spPr>
          <a:xfrm>
            <a:off x="4571999" y="3163823"/>
            <a:ext cx="4389122" cy="402337"/>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363" name="Text 36"/>
          <p:cNvSpPr txBox="1"/>
          <p:nvPr/>
        </p:nvSpPr>
        <p:spPr>
          <a:xfrm>
            <a:off x="4645152" y="3228847"/>
            <a:ext cx="274321" cy="254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200"/>
            </a:lvl1pPr>
          </a:lstStyle>
          <a:p>
            <a:r>
              <a:t>✅</a:t>
            </a:r>
          </a:p>
        </p:txBody>
      </p:sp>
      <p:sp>
        <p:nvSpPr>
          <p:cNvPr id="364" name="Text 37"/>
          <p:cNvSpPr txBox="1"/>
          <p:nvPr/>
        </p:nvSpPr>
        <p:spPr>
          <a:xfrm>
            <a:off x="4956047" y="3310635"/>
            <a:ext cx="393192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1E293B"/>
                </a:solidFill>
              </a:defRPr>
            </a:lvl1pPr>
          </a:lstStyle>
          <a:p>
            <a:r>
              <a:t>Version-tagged image — each Jenkins build creates a new tag</a:t>
            </a:r>
          </a:p>
        </p:txBody>
      </p:sp>
      <p:sp>
        <p:nvSpPr>
          <p:cNvPr id="365" name="Shape 38"/>
          <p:cNvSpPr/>
          <p:nvPr/>
        </p:nvSpPr>
        <p:spPr>
          <a:xfrm>
            <a:off x="4571999" y="3639311"/>
            <a:ext cx="4389122" cy="402337"/>
          </a:xfrm>
          <a:prstGeom prst="rect">
            <a:avLst/>
          </a:prstGeom>
          <a:solidFill>
            <a:srgbClr val="FFFFFF"/>
          </a:solidFill>
          <a:ln w="12700">
            <a:solidFill>
              <a:srgbClr val="E2E8F0"/>
            </a:solidFill>
          </a:ln>
          <a:effectLst>
            <a:outerShdw blurRad="101600" dist="38100" dir="8100000" rotWithShape="0">
              <a:srgbClr val="000000">
                <a:alpha val="18000"/>
              </a:srgbClr>
            </a:outerShdw>
          </a:effectLst>
        </p:spPr>
        <p:txBody>
          <a:bodyPr lIns="45719" rIns="45719"/>
          <a:lstStyle/>
          <a:p>
            <a:endParaRPr/>
          </a:p>
        </p:txBody>
      </p:sp>
      <p:sp>
        <p:nvSpPr>
          <p:cNvPr id="366" name="Text 39"/>
          <p:cNvSpPr txBox="1"/>
          <p:nvPr/>
        </p:nvSpPr>
        <p:spPr>
          <a:xfrm>
            <a:off x="4645152" y="3704335"/>
            <a:ext cx="274321" cy="254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200"/>
            </a:lvl1pPr>
          </a:lstStyle>
          <a:p>
            <a:r>
              <a:t>✅</a:t>
            </a:r>
          </a:p>
        </p:txBody>
      </p:sp>
      <p:sp>
        <p:nvSpPr>
          <p:cNvPr id="367" name="Text 40"/>
          <p:cNvSpPr txBox="1"/>
          <p:nvPr/>
        </p:nvSpPr>
        <p:spPr>
          <a:xfrm>
            <a:off x="4956047" y="3786124"/>
            <a:ext cx="393192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1E293B"/>
                </a:solidFill>
              </a:defRPr>
            </a:lvl1pPr>
          </a:lstStyle>
          <a:p>
            <a:r>
              <a:t>Easy rollback — previous image tag can be re-run instantly</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4B"/>
        </a:solidFill>
        <a:effectLst/>
      </p:bgPr>
    </p:bg>
    <p:spTree>
      <p:nvGrpSpPr>
        <p:cNvPr id="1" name=""/>
        <p:cNvGrpSpPr/>
        <p:nvPr/>
      </p:nvGrpSpPr>
      <p:grpSpPr>
        <a:xfrm>
          <a:off x="0" y="0"/>
          <a:ext cx="0" cy="0"/>
          <a:chOff x="0" y="0"/>
          <a:chExt cx="0" cy="0"/>
        </a:xfrm>
      </p:grpSpPr>
      <p:sp>
        <p:nvSpPr>
          <p:cNvPr id="369" name="Shape 0"/>
          <p:cNvSpPr/>
          <p:nvPr/>
        </p:nvSpPr>
        <p:spPr>
          <a:xfrm>
            <a:off x="0" y="-1"/>
            <a:ext cx="9144000" cy="73154"/>
          </a:xfrm>
          <a:prstGeom prst="rect">
            <a:avLst/>
          </a:prstGeom>
          <a:solidFill>
            <a:srgbClr val="4FC3F7"/>
          </a:solidFill>
          <a:ln w="12700">
            <a:solidFill>
              <a:srgbClr val="4FC3F7"/>
            </a:solidFill>
          </a:ln>
        </p:spPr>
        <p:txBody>
          <a:bodyPr lIns="45719" rIns="45719"/>
          <a:lstStyle/>
          <a:p>
            <a:endParaRPr/>
          </a:p>
        </p:txBody>
      </p:sp>
      <p:sp>
        <p:nvSpPr>
          <p:cNvPr id="370" name="Text 1"/>
          <p:cNvSpPr txBox="1"/>
          <p:nvPr/>
        </p:nvSpPr>
        <p:spPr>
          <a:xfrm>
            <a:off x="365759" y="233532"/>
            <a:ext cx="8412482" cy="3010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400" b="1">
                <a:solidFill>
                  <a:srgbClr val="FFFFFF"/>
                </a:solidFill>
              </a:defRPr>
            </a:lvl1pPr>
          </a:lstStyle>
          <a:p>
            <a:r>
              <a:t>5: Cloud Deployment — AWS EC2</a:t>
            </a:r>
          </a:p>
        </p:txBody>
      </p:sp>
      <p:sp>
        <p:nvSpPr>
          <p:cNvPr id="371" name="Text 2"/>
          <p:cNvSpPr txBox="1"/>
          <p:nvPr/>
        </p:nvSpPr>
        <p:spPr>
          <a:xfrm>
            <a:off x="365759" y="700962"/>
            <a:ext cx="8412482"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4FC3F7"/>
                </a:solidFill>
              </a:defRPr>
            </a:lvl1pPr>
          </a:lstStyle>
          <a:p>
            <a:r>
              <a:t>Why AWS? Why EC2? Deployment process &amp; rollout strategy</a:t>
            </a:r>
          </a:p>
        </p:txBody>
      </p:sp>
      <p:sp>
        <p:nvSpPr>
          <p:cNvPr id="372" name="Text 3"/>
          <p:cNvSpPr txBox="1"/>
          <p:nvPr/>
        </p:nvSpPr>
        <p:spPr>
          <a:xfrm>
            <a:off x="274320" y="1009703"/>
            <a:ext cx="4114801"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a:solidFill>
                  <a:srgbClr val="4FC3F7"/>
                </a:solidFill>
              </a:defRPr>
            </a:lvl1pPr>
          </a:lstStyle>
          <a:p>
            <a:r>
              <a:t>Why AWS?</a:t>
            </a:r>
          </a:p>
        </p:txBody>
      </p:sp>
      <p:sp>
        <p:nvSpPr>
          <p:cNvPr id="373" name="Text 4"/>
          <p:cNvSpPr txBox="1"/>
          <p:nvPr/>
        </p:nvSpPr>
        <p:spPr>
          <a:xfrm>
            <a:off x="274320" y="1264833"/>
            <a:ext cx="4114801" cy="5335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Amazon Web Services is the world's leading cloud provider, offering global infrastructure, pay-as-you-go pricing, and a rich ecosystem of services. AWS Free Tier makes it accessible for academic and prototype deployments at zero cost, while scaling to enterprise needs when required.</a:t>
            </a:r>
          </a:p>
        </p:txBody>
      </p:sp>
      <p:sp>
        <p:nvSpPr>
          <p:cNvPr id="374" name="Text 5"/>
          <p:cNvSpPr txBox="1"/>
          <p:nvPr/>
        </p:nvSpPr>
        <p:spPr>
          <a:xfrm>
            <a:off x="274320" y="1951535"/>
            <a:ext cx="4114801"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a:solidFill>
                  <a:srgbClr val="4FC3F7"/>
                </a:solidFill>
              </a:defRPr>
            </a:lvl1pPr>
          </a:lstStyle>
          <a:p>
            <a:r>
              <a:t>Why EC2?</a:t>
            </a:r>
          </a:p>
        </p:txBody>
      </p:sp>
      <p:sp>
        <p:nvSpPr>
          <p:cNvPr id="375" name="Text 6"/>
          <p:cNvSpPr txBox="1"/>
          <p:nvPr/>
        </p:nvSpPr>
        <p:spPr>
          <a:xfrm>
            <a:off x="274320" y="2206665"/>
            <a:ext cx="4114801" cy="5335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CADCFC"/>
                </a:solidFill>
              </a:defRPr>
            </a:lvl1pPr>
          </a:lstStyle>
          <a:p>
            <a:r>
              <a:t>EC2 (Elastic Compute Cloud) provides a virtual machine in the cloud with full OS-level control. We can install Docker, pull our image from Docker Hub, and run the containerised app exactly as we would locally — giving full control over the deployment environment.</a:t>
            </a:r>
          </a:p>
        </p:txBody>
      </p:sp>
      <p:sp>
        <p:nvSpPr>
          <p:cNvPr id="376" name="Text 7"/>
          <p:cNvSpPr txBox="1"/>
          <p:nvPr/>
        </p:nvSpPr>
        <p:spPr>
          <a:xfrm>
            <a:off x="274320" y="2895522"/>
            <a:ext cx="4114801"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a:solidFill>
                  <a:srgbClr val="4FC3F7"/>
                </a:solidFill>
              </a:defRPr>
            </a:lvl1pPr>
          </a:lstStyle>
          <a:p>
            <a:r>
              <a:t>EC2 Configuration</a:t>
            </a:r>
          </a:p>
        </p:txBody>
      </p:sp>
      <p:sp>
        <p:nvSpPr>
          <p:cNvPr id="377" name="Shape 8"/>
          <p:cNvSpPr/>
          <p:nvPr/>
        </p:nvSpPr>
        <p:spPr>
          <a:xfrm>
            <a:off x="274320" y="3127248"/>
            <a:ext cx="4114801" cy="256033"/>
          </a:xfrm>
          <a:prstGeom prst="rect">
            <a:avLst/>
          </a:prstGeom>
          <a:solidFill>
            <a:srgbClr val="0F2557"/>
          </a:solidFill>
          <a:ln w="12700">
            <a:solidFill>
              <a:srgbClr val="1E3A8A"/>
            </a:solidFill>
          </a:ln>
        </p:spPr>
        <p:txBody>
          <a:bodyPr lIns="45719" rIns="45719"/>
          <a:lstStyle/>
          <a:p>
            <a:endParaRPr/>
          </a:p>
        </p:txBody>
      </p:sp>
      <p:sp>
        <p:nvSpPr>
          <p:cNvPr id="378" name="Text 9"/>
          <p:cNvSpPr txBox="1"/>
          <p:nvPr/>
        </p:nvSpPr>
        <p:spPr>
          <a:xfrm>
            <a:off x="365759" y="3182619"/>
            <a:ext cx="12801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4FC3F7"/>
                </a:solidFill>
              </a:defRPr>
            </a:lvl1pPr>
          </a:lstStyle>
          <a:p>
            <a:r>
              <a:t>OS: </a:t>
            </a:r>
          </a:p>
        </p:txBody>
      </p:sp>
      <p:sp>
        <p:nvSpPr>
          <p:cNvPr id="379" name="Text 10"/>
          <p:cNvSpPr txBox="1"/>
          <p:nvPr/>
        </p:nvSpPr>
        <p:spPr>
          <a:xfrm>
            <a:off x="1691639" y="3182619"/>
            <a:ext cx="26517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Ubuntu 24.04 LTS</a:t>
            </a:r>
          </a:p>
        </p:txBody>
      </p:sp>
      <p:sp>
        <p:nvSpPr>
          <p:cNvPr id="380" name="Shape 11"/>
          <p:cNvSpPr/>
          <p:nvPr/>
        </p:nvSpPr>
        <p:spPr>
          <a:xfrm>
            <a:off x="274320" y="3438144"/>
            <a:ext cx="4114801" cy="256033"/>
          </a:xfrm>
          <a:prstGeom prst="rect">
            <a:avLst/>
          </a:prstGeom>
          <a:solidFill>
            <a:srgbClr val="0F2557"/>
          </a:solidFill>
          <a:ln w="12700">
            <a:solidFill>
              <a:srgbClr val="1E3A8A"/>
            </a:solidFill>
          </a:ln>
        </p:spPr>
        <p:txBody>
          <a:bodyPr lIns="45719" rIns="45719"/>
          <a:lstStyle/>
          <a:p>
            <a:endParaRPr/>
          </a:p>
        </p:txBody>
      </p:sp>
      <p:sp>
        <p:nvSpPr>
          <p:cNvPr id="381" name="Text 12"/>
          <p:cNvSpPr txBox="1"/>
          <p:nvPr/>
        </p:nvSpPr>
        <p:spPr>
          <a:xfrm>
            <a:off x="365759" y="3493516"/>
            <a:ext cx="12801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4FC3F7"/>
                </a:solidFill>
              </a:defRPr>
            </a:lvl1pPr>
          </a:lstStyle>
          <a:p>
            <a:r>
              <a:t>Instance Type: </a:t>
            </a:r>
          </a:p>
        </p:txBody>
      </p:sp>
      <p:sp>
        <p:nvSpPr>
          <p:cNvPr id="382" name="Text 13"/>
          <p:cNvSpPr txBox="1"/>
          <p:nvPr/>
        </p:nvSpPr>
        <p:spPr>
          <a:xfrm>
            <a:off x="1691639" y="3493516"/>
            <a:ext cx="26517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t2.micro (Free Tier)</a:t>
            </a:r>
          </a:p>
        </p:txBody>
      </p:sp>
      <p:sp>
        <p:nvSpPr>
          <p:cNvPr id="383" name="Shape 14"/>
          <p:cNvSpPr/>
          <p:nvPr/>
        </p:nvSpPr>
        <p:spPr>
          <a:xfrm>
            <a:off x="274320" y="3749040"/>
            <a:ext cx="4114801" cy="256033"/>
          </a:xfrm>
          <a:prstGeom prst="rect">
            <a:avLst/>
          </a:prstGeom>
          <a:solidFill>
            <a:srgbClr val="0F2557"/>
          </a:solidFill>
          <a:ln w="12700">
            <a:solidFill>
              <a:srgbClr val="1E3A8A"/>
            </a:solidFill>
          </a:ln>
        </p:spPr>
        <p:txBody>
          <a:bodyPr lIns="45719" rIns="45719"/>
          <a:lstStyle/>
          <a:p>
            <a:endParaRPr/>
          </a:p>
        </p:txBody>
      </p:sp>
      <p:sp>
        <p:nvSpPr>
          <p:cNvPr id="384" name="Text 15"/>
          <p:cNvSpPr txBox="1"/>
          <p:nvPr/>
        </p:nvSpPr>
        <p:spPr>
          <a:xfrm>
            <a:off x="365759" y="3804412"/>
            <a:ext cx="12801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4FC3F7"/>
                </a:solidFill>
              </a:defRPr>
            </a:lvl1pPr>
          </a:lstStyle>
          <a:p>
            <a:r>
              <a:t>Region: </a:t>
            </a:r>
          </a:p>
        </p:txBody>
      </p:sp>
      <p:sp>
        <p:nvSpPr>
          <p:cNvPr id="385" name="Text 16"/>
          <p:cNvSpPr txBox="1"/>
          <p:nvPr/>
        </p:nvSpPr>
        <p:spPr>
          <a:xfrm>
            <a:off x="1691639" y="3804412"/>
            <a:ext cx="26517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us-east-1</a:t>
            </a:r>
          </a:p>
        </p:txBody>
      </p:sp>
      <p:sp>
        <p:nvSpPr>
          <p:cNvPr id="386" name="Shape 17"/>
          <p:cNvSpPr/>
          <p:nvPr/>
        </p:nvSpPr>
        <p:spPr>
          <a:xfrm>
            <a:off x="274320" y="4059935"/>
            <a:ext cx="4114801" cy="256033"/>
          </a:xfrm>
          <a:prstGeom prst="rect">
            <a:avLst/>
          </a:prstGeom>
          <a:solidFill>
            <a:srgbClr val="0F2557"/>
          </a:solidFill>
          <a:ln w="12700">
            <a:solidFill>
              <a:srgbClr val="1E3A8A"/>
            </a:solidFill>
          </a:ln>
        </p:spPr>
        <p:txBody>
          <a:bodyPr lIns="45719" rIns="45719"/>
          <a:lstStyle/>
          <a:p>
            <a:endParaRPr/>
          </a:p>
        </p:txBody>
      </p:sp>
      <p:sp>
        <p:nvSpPr>
          <p:cNvPr id="387" name="Text 18"/>
          <p:cNvSpPr txBox="1"/>
          <p:nvPr/>
        </p:nvSpPr>
        <p:spPr>
          <a:xfrm>
            <a:off x="365759" y="4115307"/>
            <a:ext cx="12801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4FC3F7"/>
                </a:solidFill>
              </a:defRPr>
            </a:lvl1pPr>
          </a:lstStyle>
          <a:p>
            <a:r>
              <a:t>Access: </a:t>
            </a:r>
          </a:p>
        </p:txBody>
      </p:sp>
      <p:sp>
        <p:nvSpPr>
          <p:cNvPr id="388" name="Text 19"/>
          <p:cNvSpPr txBox="1"/>
          <p:nvPr/>
        </p:nvSpPr>
        <p:spPr>
          <a:xfrm>
            <a:off x="1691639" y="4115307"/>
            <a:ext cx="26517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SSH via key pair (.pem)</a:t>
            </a:r>
          </a:p>
        </p:txBody>
      </p:sp>
      <p:sp>
        <p:nvSpPr>
          <p:cNvPr id="389" name="Shape 20"/>
          <p:cNvSpPr/>
          <p:nvPr/>
        </p:nvSpPr>
        <p:spPr>
          <a:xfrm>
            <a:off x="274320" y="4370832"/>
            <a:ext cx="4114801" cy="256033"/>
          </a:xfrm>
          <a:prstGeom prst="rect">
            <a:avLst/>
          </a:prstGeom>
          <a:solidFill>
            <a:srgbClr val="0F2557"/>
          </a:solidFill>
          <a:ln w="12700">
            <a:solidFill>
              <a:srgbClr val="1E3A8A"/>
            </a:solidFill>
          </a:ln>
        </p:spPr>
        <p:txBody>
          <a:bodyPr lIns="45719" rIns="45719"/>
          <a:lstStyle/>
          <a:p>
            <a:endParaRPr/>
          </a:p>
        </p:txBody>
      </p:sp>
      <p:sp>
        <p:nvSpPr>
          <p:cNvPr id="390" name="Text 21"/>
          <p:cNvSpPr txBox="1"/>
          <p:nvPr/>
        </p:nvSpPr>
        <p:spPr>
          <a:xfrm>
            <a:off x="365759" y="4426204"/>
            <a:ext cx="12801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4FC3F7"/>
                </a:solidFill>
              </a:defRPr>
            </a:lvl1pPr>
          </a:lstStyle>
          <a:p>
            <a:r>
              <a:t>Port: </a:t>
            </a:r>
          </a:p>
        </p:txBody>
      </p:sp>
      <p:sp>
        <p:nvSpPr>
          <p:cNvPr id="391" name="Text 22"/>
          <p:cNvSpPr txBox="1"/>
          <p:nvPr/>
        </p:nvSpPr>
        <p:spPr>
          <a:xfrm>
            <a:off x="1691639" y="4426204"/>
            <a:ext cx="26517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9090 mapped to container 8080</a:t>
            </a:r>
          </a:p>
        </p:txBody>
      </p:sp>
      <p:sp>
        <p:nvSpPr>
          <p:cNvPr id="392" name="Text 23"/>
          <p:cNvSpPr txBox="1"/>
          <p:nvPr/>
        </p:nvSpPr>
        <p:spPr>
          <a:xfrm>
            <a:off x="4571999" y="1021002"/>
            <a:ext cx="4389122"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a:solidFill>
                  <a:srgbClr val="4FC3F7"/>
                </a:solidFill>
              </a:defRPr>
            </a:lvl1pPr>
          </a:lstStyle>
          <a:p>
            <a:r>
              <a:t>Deployment Process — Step by Step</a:t>
            </a:r>
          </a:p>
        </p:txBody>
      </p:sp>
      <p:sp>
        <p:nvSpPr>
          <p:cNvPr id="393" name="Shape 24"/>
          <p:cNvSpPr/>
          <p:nvPr/>
        </p:nvSpPr>
        <p:spPr>
          <a:xfrm>
            <a:off x="4571999" y="1261872"/>
            <a:ext cx="2103122" cy="777241"/>
          </a:xfrm>
          <a:prstGeom prst="rect">
            <a:avLst/>
          </a:prstGeom>
          <a:solidFill>
            <a:srgbClr val="0F2557"/>
          </a:solidFill>
          <a:ln w="15240">
            <a:solidFill>
              <a:srgbClr val="0891B2"/>
            </a:solidFill>
          </a:ln>
          <a:effectLst>
            <a:outerShdw blurRad="101600" dist="38100" dir="8100000" rotWithShape="0">
              <a:srgbClr val="000000">
                <a:alpha val="18000"/>
              </a:srgbClr>
            </a:outerShdw>
          </a:effectLst>
        </p:spPr>
        <p:txBody>
          <a:bodyPr lIns="45719" rIns="45719"/>
          <a:lstStyle/>
          <a:p>
            <a:endParaRPr/>
          </a:p>
        </p:txBody>
      </p:sp>
      <p:sp>
        <p:nvSpPr>
          <p:cNvPr id="394" name="Shape 25"/>
          <p:cNvSpPr/>
          <p:nvPr/>
        </p:nvSpPr>
        <p:spPr>
          <a:xfrm>
            <a:off x="4645152" y="1335024"/>
            <a:ext cx="274321" cy="274321"/>
          </a:xfrm>
          <a:prstGeom prst="ellipse">
            <a:avLst/>
          </a:prstGeom>
          <a:solidFill>
            <a:srgbClr val="0891B2"/>
          </a:solidFill>
          <a:ln w="12700">
            <a:solidFill>
              <a:srgbClr val="0891B2"/>
            </a:solidFill>
          </a:ln>
        </p:spPr>
        <p:txBody>
          <a:bodyPr lIns="45719" rIns="45719"/>
          <a:lstStyle/>
          <a:p>
            <a:endParaRPr/>
          </a:p>
        </p:txBody>
      </p:sp>
      <p:sp>
        <p:nvSpPr>
          <p:cNvPr id="395" name="Text 26"/>
          <p:cNvSpPr txBox="1"/>
          <p:nvPr/>
        </p:nvSpPr>
        <p:spPr>
          <a:xfrm>
            <a:off x="4645152" y="1403648"/>
            <a:ext cx="274321"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000" b="1">
                <a:solidFill>
                  <a:srgbClr val="0D1B4B"/>
                </a:solidFill>
              </a:defRPr>
            </a:lvl1pPr>
          </a:lstStyle>
          <a:p>
            <a:r>
              <a:t>1</a:t>
            </a:r>
          </a:p>
        </p:txBody>
      </p:sp>
      <p:sp>
        <p:nvSpPr>
          <p:cNvPr id="396" name="Text 27"/>
          <p:cNvSpPr txBox="1"/>
          <p:nvPr/>
        </p:nvSpPr>
        <p:spPr>
          <a:xfrm>
            <a:off x="4983479" y="1390395"/>
            <a:ext cx="162763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0891B2"/>
                </a:solidFill>
              </a:defRPr>
            </a:lvl1pPr>
          </a:lstStyle>
          <a:p>
            <a:r>
              <a:t>Build &amp; Tag Image Locally</a:t>
            </a:r>
          </a:p>
        </p:txBody>
      </p:sp>
      <p:sp>
        <p:nvSpPr>
          <p:cNvPr id="397" name="Text 28"/>
          <p:cNvSpPr txBox="1"/>
          <p:nvPr/>
        </p:nvSpPr>
        <p:spPr>
          <a:xfrm>
            <a:off x="4681728" y="1703867"/>
            <a:ext cx="1920241" cy="231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Docker image built from Dockerfile and tagged for Docker Hub</a:t>
            </a:r>
          </a:p>
        </p:txBody>
      </p:sp>
      <p:sp>
        <p:nvSpPr>
          <p:cNvPr id="398" name="Shape 29"/>
          <p:cNvSpPr/>
          <p:nvPr/>
        </p:nvSpPr>
        <p:spPr>
          <a:xfrm>
            <a:off x="6812280" y="1261872"/>
            <a:ext cx="2103121" cy="777241"/>
          </a:xfrm>
          <a:prstGeom prst="rect">
            <a:avLst/>
          </a:prstGeom>
          <a:solidFill>
            <a:srgbClr val="0F2557"/>
          </a:solidFill>
          <a:ln w="15240">
            <a:solidFill>
              <a:srgbClr val="3B82F6"/>
            </a:solidFill>
          </a:ln>
          <a:effectLst>
            <a:outerShdw blurRad="101600" dist="38100" dir="8100000" rotWithShape="0">
              <a:srgbClr val="000000">
                <a:alpha val="18000"/>
              </a:srgbClr>
            </a:outerShdw>
          </a:effectLst>
        </p:spPr>
        <p:txBody>
          <a:bodyPr lIns="45719" rIns="45719"/>
          <a:lstStyle/>
          <a:p>
            <a:endParaRPr/>
          </a:p>
        </p:txBody>
      </p:sp>
      <p:sp>
        <p:nvSpPr>
          <p:cNvPr id="399" name="Shape 30"/>
          <p:cNvSpPr/>
          <p:nvPr/>
        </p:nvSpPr>
        <p:spPr>
          <a:xfrm>
            <a:off x="6885431" y="1335024"/>
            <a:ext cx="274321" cy="274321"/>
          </a:xfrm>
          <a:prstGeom prst="ellipse">
            <a:avLst/>
          </a:prstGeom>
          <a:solidFill>
            <a:srgbClr val="3B82F6"/>
          </a:solidFill>
          <a:ln w="12700">
            <a:solidFill>
              <a:srgbClr val="3B82F6"/>
            </a:solidFill>
          </a:ln>
        </p:spPr>
        <p:txBody>
          <a:bodyPr lIns="45719" rIns="45719"/>
          <a:lstStyle/>
          <a:p>
            <a:endParaRPr/>
          </a:p>
        </p:txBody>
      </p:sp>
      <p:sp>
        <p:nvSpPr>
          <p:cNvPr id="400" name="Text 31"/>
          <p:cNvSpPr txBox="1"/>
          <p:nvPr/>
        </p:nvSpPr>
        <p:spPr>
          <a:xfrm>
            <a:off x="6885431" y="1403648"/>
            <a:ext cx="274321"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000" b="1">
                <a:solidFill>
                  <a:srgbClr val="0D1B4B"/>
                </a:solidFill>
              </a:defRPr>
            </a:lvl1pPr>
          </a:lstStyle>
          <a:p>
            <a:r>
              <a:t>2</a:t>
            </a:r>
          </a:p>
        </p:txBody>
      </p:sp>
      <p:sp>
        <p:nvSpPr>
          <p:cNvPr id="401" name="Text 32"/>
          <p:cNvSpPr txBox="1"/>
          <p:nvPr/>
        </p:nvSpPr>
        <p:spPr>
          <a:xfrm>
            <a:off x="7223759" y="1390395"/>
            <a:ext cx="162763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3B82F6"/>
                </a:solidFill>
              </a:defRPr>
            </a:lvl1pPr>
          </a:lstStyle>
          <a:p>
            <a:r>
              <a:t>Push to Docker Hub</a:t>
            </a:r>
          </a:p>
        </p:txBody>
      </p:sp>
      <p:sp>
        <p:nvSpPr>
          <p:cNvPr id="402" name="Text 33"/>
          <p:cNvSpPr txBox="1"/>
          <p:nvPr/>
        </p:nvSpPr>
        <p:spPr>
          <a:xfrm>
            <a:off x="6922007" y="1703867"/>
            <a:ext cx="1920241" cy="231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Image uploaded to public registry — accessible from anywhere</a:t>
            </a:r>
          </a:p>
        </p:txBody>
      </p:sp>
      <p:sp>
        <p:nvSpPr>
          <p:cNvPr id="403" name="Shape 34"/>
          <p:cNvSpPr/>
          <p:nvPr/>
        </p:nvSpPr>
        <p:spPr>
          <a:xfrm>
            <a:off x="4571999" y="2157983"/>
            <a:ext cx="2103122" cy="777241"/>
          </a:xfrm>
          <a:prstGeom prst="rect">
            <a:avLst/>
          </a:prstGeom>
          <a:solidFill>
            <a:srgbClr val="0F2557"/>
          </a:solidFill>
          <a:ln w="15240">
            <a:solidFill>
              <a:srgbClr val="D97706"/>
            </a:solidFill>
          </a:ln>
          <a:effectLst>
            <a:outerShdw blurRad="101600" dist="38100" dir="8100000" rotWithShape="0">
              <a:srgbClr val="000000">
                <a:alpha val="18000"/>
              </a:srgbClr>
            </a:outerShdw>
          </a:effectLst>
        </p:spPr>
        <p:txBody>
          <a:bodyPr lIns="45719" rIns="45719"/>
          <a:lstStyle/>
          <a:p>
            <a:endParaRPr/>
          </a:p>
        </p:txBody>
      </p:sp>
      <p:sp>
        <p:nvSpPr>
          <p:cNvPr id="404" name="Shape 35"/>
          <p:cNvSpPr/>
          <p:nvPr/>
        </p:nvSpPr>
        <p:spPr>
          <a:xfrm>
            <a:off x="4645152" y="2231135"/>
            <a:ext cx="274321" cy="274321"/>
          </a:xfrm>
          <a:prstGeom prst="ellipse">
            <a:avLst/>
          </a:prstGeom>
          <a:solidFill>
            <a:srgbClr val="D97706"/>
          </a:solidFill>
          <a:ln w="12700">
            <a:solidFill>
              <a:srgbClr val="D97706"/>
            </a:solidFill>
          </a:ln>
        </p:spPr>
        <p:txBody>
          <a:bodyPr lIns="45719" rIns="45719"/>
          <a:lstStyle/>
          <a:p>
            <a:endParaRPr/>
          </a:p>
        </p:txBody>
      </p:sp>
      <p:sp>
        <p:nvSpPr>
          <p:cNvPr id="405" name="Text 36"/>
          <p:cNvSpPr txBox="1"/>
          <p:nvPr/>
        </p:nvSpPr>
        <p:spPr>
          <a:xfrm>
            <a:off x="4645152" y="2299760"/>
            <a:ext cx="274321"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000" b="1">
                <a:solidFill>
                  <a:srgbClr val="0D1B4B"/>
                </a:solidFill>
              </a:defRPr>
            </a:lvl1pPr>
          </a:lstStyle>
          <a:p>
            <a:r>
              <a:t>3</a:t>
            </a:r>
          </a:p>
        </p:txBody>
      </p:sp>
      <p:sp>
        <p:nvSpPr>
          <p:cNvPr id="406" name="Text 37"/>
          <p:cNvSpPr txBox="1"/>
          <p:nvPr/>
        </p:nvSpPr>
        <p:spPr>
          <a:xfrm>
            <a:off x="4983479" y="2286507"/>
            <a:ext cx="162763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D97706"/>
                </a:solidFill>
              </a:defRPr>
            </a:lvl1pPr>
          </a:lstStyle>
          <a:p>
            <a:r>
              <a:t>Launch EC2 Instance</a:t>
            </a:r>
          </a:p>
        </p:txBody>
      </p:sp>
      <p:sp>
        <p:nvSpPr>
          <p:cNvPr id="407" name="Text 38"/>
          <p:cNvSpPr txBox="1"/>
          <p:nvPr/>
        </p:nvSpPr>
        <p:spPr>
          <a:xfrm>
            <a:off x="4681728" y="2599979"/>
            <a:ext cx="1920241" cy="231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Ubuntu VM created on AWS with security group allowing SSH &amp; port 9090</a:t>
            </a:r>
          </a:p>
        </p:txBody>
      </p:sp>
      <p:sp>
        <p:nvSpPr>
          <p:cNvPr id="408" name="Shape 39"/>
          <p:cNvSpPr/>
          <p:nvPr/>
        </p:nvSpPr>
        <p:spPr>
          <a:xfrm>
            <a:off x="6812280" y="2157983"/>
            <a:ext cx="2103121" cy="777241"/>
          </a:xfrm>
          <a:prstGeom prst="rect">
            <a:avLst/>
          </a:prstGeom>
          <a:solidFill>
            <a:srgbClr val="0F2557"/>
          </a:solidFill>
          <a:ln w="15240">
            <a:solidFill>
              <a:srgbClr val="7C3AED"/>
            </a:solidFill>
          </a:ln>
          <a:effectLst>
            <a:outerShdw blurRad="101600" dist="38100" dir="8100000" rotWithShape="0">
              <a:srgbClr val="000000">
                <a:alpha val="18000"/>
              </a:srgbClr>
            </a:outerShdw>
          </a:effectLst>
        </p:spPr>
        <p:txBody>
          <a:bodyPr lIns="45719" rIns="45719"/>
          <a:lstStyle/>
          <a:p>
            <a:endParaRPr/>
          </a:p>
        </p:txBody>
      </p:sp>
      <p:sp>
        <p:nvSpPr>
          <p:cNvPr id="409" name="Shape 40"/>
          <p:cNvSpPr/>
          <p:nvPr/>
        </p:nvSpPr>
        <p:spPr>
          <a:xfrm>
            <a:off x="6885431" y="2231135"/>
            <a:ext cx="274321" cy="274321"/>
          </a:xfrm>
          <a:prstGeom prst="ellipse">
            <a:avLst/>
          </a:prstGeom>
          <a:solidFill>
            <a:srgbClr val="7C3AED"/>
          </a:solidFill>
          <a:ln w="12700">
            <a:solidFill>
              <a:srgbClr val="7C3AED"/>
            </a:solidFill>
          </a:ln>
        </p:spPr>
        <p:txBody>
          <a:bodyPr lIns="45719" rIns="45719"/>
          <a:lstStyle/>
          <a:p>
            <a:endParaRPr/>
          </a:p>
        </p:txBody>
      </p:sp>
      <p:sp>
        <p:nvSpPr>
          <p:cNvPr id="410" name="Text 41"/>
          <p:cNvSpPr txBox="1"/>
          <p:nvPr/>
        </p:nvSpPr>
        <p:spPr>
          <a:xfrm>
            <a:off x="6885431" y="2299760"/>
            <a:ext cx="274321"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000" b="1">
                <a:solidFill>
                  <a:srgbClr val="0D1B4B"/>
                </a:solidFill>
              </a:defRPr>
            </a:lvl1pPr>
          </a:lstStyle>
          <a:p>
            <a:r>
              <a:t>4</a:t>
            </a:r>
          </a:p>
        </p:txBody>
      </p:sp>
      <p:sp>
        <p:nvSpPr>
          <p:cNvPr id="411" name="Text 42"/>
          <p:cNvSpPr txBox="1"/>
          <p:nvPr/>
        </p:nvSpPr>
        <p:spPr>
          <a:xfrm>
            <a:off x="7223759" y="2286507"/>
            <a:ext cx="162763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7C3AED"/>
                </a:solidFill>
              </a:defRPr>
            </a:lvl1pPr>
          </a:lstStyle>
          <a:p>
            <a:r>
              <a:t>SSH into EC2</a:t>
            </a:r>
          </a:p>
        </p:txBody>
      </p:sp>
      <p:sp>
        <p:nvSpPr>
          <p:cNvPr id="412" name="Text 43"/>
          <p:cNvSpPr txBox="1"/>
          <p:nvPr/>
        </p:nvSpPr>
        <p:spPr>
          <a:xfrm>
            <a:off x="6922007" y="2652268"/>
            <a:ext cx="192024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Secure shell connection using .pem key pair</a:t>
            </a:r>
          </a:p>
        </p:txBody>
      </p:sp>
      <p:sp>
        <p:nvSpPr>
          <p:cNvPr id="413" name="Shape 44"/>
          <p:cNvSpPr/>
          <p:nvPr/>
        </p:nvSpPr>
        <p:spPr>
          <a:xfrm>
            <a:off x="4571999" y="3054095"/>
            <a:ext cx="2103122" cy="777241"/>
          </a:xfrm>
          <a:prstGeom prst="rect">
            <a:avLst/>
          </a:prstGeom>
          <a:solidFill>
            <a:srgbClr val="0F2557"/>
          </a:solidFill>
          <a:ln w="15240">
            <a:solidFill>
              <a:srgbClr val="0891B2"/>
            </a:solidFill>
          </a:ln>
          <a:effectLst>
            <a:outerShdw blurRad="101600" dist="38100" dir="8100000" rotWithShape="0">
              <a:srgbClr val="000000">
                <a:alpha val="18000"/>
              </a:srgbClr>
            </a:outerShdw>
          </a:effectLst>
        </p:spPr>
        <p:txBody>
          <a:bodyPr lIns="45719" rIns="45719"/>
          <a:lstStyle/>
          <a:p>
            <a:endParaRPr/>
          </a:p>
        </p:txBody>
      </p:sp>
      <p:sp>
        <p:nvSpPr>
          <p:cNvPr id="414" name="Shape 45"/>
          <p:cNvSpPr/>
          <p:nvPr/>
        </p:nvSpPr>
        <p:spPr>
          <a:xfrm>
            <a:off x="4645152" y="3127248"/>
            <a:ext cx="274321" cy="274321"/>
          </a:xfrm>
          <a:prstGeom prst="ellipse">
            <a:avLst/>
          </a:prstGeom>
          <a:solidFill>
            <a:srgbClr val="0891B2"/>
          </a:solidFill>
          <a:ln w="12700">
            <a:solidFill>
              <a:srgbClr val="0891B2"/>
            </a:solidFill>
          </a:ln>
        </p:spPr>
        <p:txBody>
          <a:bodyPr lIns="45719" rIns="45719"/>
          <a:lstStyle/>
          <a:p>
            <a:endParaRPr/>
          </a:p>
        </p:txBody>
      </p:sp>
      <p:sp>
        <p:nvSpPr>
          <p:cNvPr id="415" name="Text 46"/>
          <p:cNvSpPr txBox="1"/>
          <p:nvPr/>
        </p:nvSpPr>
        <p:spPr>
          <a:xfrm>
            <a:off x="4645152" y="3195872"/>
            <a:ext cx="274321"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000" b="1">
                <a:solidFill>
                  <a:srgbClr val="0D1B4B"/>
                </a:solidFill>
              </a:defRPr>
            </a:lvl1pPr>
          </a:lstStyle>
          <a:p>
            <a:r>
              <a:t>5</a:t>
            </a:r>
          </a:p>
        </p:txBody>
      </p:sp>
      <p:sp>
        <p:nvSpPr>
          <p:cNvPr id="416" name="Text 47"/>
          <p:cNvSpPr txBox="1"/>
          <p:nvPr/>
        </p:nvSpPr>
        <p:spPr>
          <a:xfrm>
            <a:off x="4983479" y="3182619"/>
            <a:ext cx="162763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0891B2"/>
                </a:solidFill>
              </a:defRPr>
            </a:lvl1pPr>
          </a:lstStyle>
          <a:p>
            <a:r>
              <a:t>Install Docker on EC2</a:t>
            </a:r>
          </a:p>
        </p:txBody>
      </p:sp>
      <p:sp>
        <p:nvSpPr>
          <p:cNvPr id="417" name="Text 48"/>
          <p:cNvSpPr txBox="1"/>
          <p:nvPr/>
        </p:nvSpPr>
        <p:spPr>
          <a:xfrm>
            <a:off x="4681728" y="3496091"/>
            <a:ext cx="1920241" cy="231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sudo apt install docker.io — Docker runtime set up on cloud VM</a:t>
            </a:r>
          </a:p>
        </p:txBody>
      </p:sp>
      <p:sp>
        <p:nvSpPr>
          <p:cNvPr id="418" name="Shape 49"/>
          <p:cNvSpPr/>
          <p:nvPr/>
        </p:nvSpPr>
        <p:spPr>
          <a:xfrm>
            <a:off x="6812280" y="3054095"/>
            <a:ext cx="2103121" cy="777241"/>
          </a:xfrm>
          <a:prstGeom prst="rect">
            <a:avLst/>
          </a:prstGeom>
          <a:solidFill>
            <a:srgbClr val="0F2557"/>
          </a:solidFill>
          <a:ln w="15240">
            <a:solidFill>
              <a:srgbClr val="3B82F6"/>
            </a:solidFill>
          </a:ln>
          <a:effectLst>
            <a:outerShdw blurRad="101600" dist="38100" dir="8100000" rotWithShape="0">
              <a:srgbClr val="000000">
                <a:alpha val="18000"/>
              </a:srgbClr>
            </a:outerShdw>
          </a:effectLst>
        </p:spPr>
        <p:txBody>
          <a:bodyPr lIns="45719" rIns="45719"/>
          <a:lstStyle/>
          <a:p>
            <a:endParaRPr/>
          </a:p>
        </p:txBody>
      </p:sp>
      <p:sp>
        <p:nvSpPr>
          <p:cNvPr id="419" name="Shape 50"/>
          <p:cNvSpPr/>
          <p:nvPr/>
        </p:nvSpPr>
        <p:spPr>
          <a:xfrm>
            <a:off x="6885431" y="3127248"/>
            <a:ext cx="274321" cy="274321"/>
          </a:xfrm>
          <a:prstGeom prst="ellipse">
            <a:avLst/>
          </a:prstGeom>
          <a:solidFill>
            <a:srgbClr val="3B82F6"/>
          </a:solidFill>
          <a:ln w="12700">
            <a:solidFill>
              <a:srgbClr val="3B82F6"/>
            </a:solidFill>
          </a:ln>
        </p:spPr>
        <p:txBody>
          <a:bodyPr lIns="45719" rIns="45719"/>
          <a:lstStyle/>
          <a:p>
            <a:endParaRPr/>
          </a:p>
        </p:txBody>
      </p:sp>
      <p:sp>
        <p:nvSpPr>
          <p:cNvPr id="420" name="Text 51"/>
          <p:cNvSpPr txBox="1"/>
          <p:nvPr/>
        </p:nvSpPr>
        <p:spPr>
          <a:xfrm>
            <a:off x="6885431" y="3195872"/>
            <a:ext cx="274321"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000" b="1">
                <a:solidFill>
                  <a:srgbClr val="0D1B4B"/>
                </a:solidFill>
              </a:defRPr>
            </a:lvl1pPr>
          </a:lstStyle>
          <a:p>
            <a:r>
              <a:t>6</a:t>
            </a:r>
          </a:p>
        </p:txBody>
      </p:sp>
      <p:sp>
        <p:nvSpPr>
          <p:cNvPr id="421" name="Text 52"/>
          <p:cNvSpPr txBox="1"/>
          <p:nvPr/>
        </p:nvSpPr>
        <p:spPr>
          <a:xfrm>
            <a:off x="7223759" y="3182619"/>
            <a:ext cx="162763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3B82F6"/>
                </a:solidFill>
              </a:defRPr>
            </a:lvl1pPr>
          </a:lstStyle>
          <a:p>
            <a:r>
              <a:t>Pull Image from Docker Hub</a:t>
            </a:r>
          </a:p>
        </p:txBody>
      </p:sp>
      <p:sp>
        <p:nvSpPr>
          <p:cNvPr id="422" name="Text 53"/>
          <p:cNvSpPr txBox="1"/>
          <p:nvPr/>
        </p:nvSpPr>
        <p:spPr>
          <a:xfrm>
            <a:off x="6922007" y="3496091"/>
            <a:ext cx="1920241" cy="231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docker pull customer-app — fetches the image</a:t>
            </a:r>
          </a:p>
        </p:txBody>
      </p:sp>
      <p:sp>
        <p:nvSpPr>
          <p:cNvPr id="423" name="Shape 54"/>
          <p:cNvSpPr/>
          <p:nvPr/>
        </p:nvSpPr>
        <p:spPr>
          <a:xfrm>
            <a:off x="4571999" y="3950208"/>
            <a:ext cx="2103122" cy="777241"/>
          </a:xfrm>
          <a:prstGeom prst="rect">
            <a:avLst/>
          </a:prstGeom>
          <a:solidFill>
            <a:srgbClr val="0F2557"/>
          </a:solidFill>
          <a:ln w="15240">
            <a:solidFill>
              <a:srgbClr val="16A34A"/>
            </a:solidFill>
          </a:ln>
          <a:effectLst>
            <a:outerShdw blurRad="101600" dist="38100" dir="8100000" rotWithShape="0">
              <a:srgbClr val="000000">
                <a:alpha val="18000"/>
              </a:srgbClr>
            </a:outerShdw>
          </a:effectLst>
        </p:spPr>
        <p:txBody>
          <a:bodyPr lIns="45719" rIns="45719"/>
          <a:lstStyle/>
          <a:p>
            <a:endParaRPr/>
          </a:p>
        </p:txBody>
      </p:sp>
      <p:sp>
        <p:nvSpPr>
          <p:cNvPr id="424" name="Shape 55"/>
          <p:cNvSpPr/>
          <p:nvPr/>
        </p:nvSpPr>
        <p:spPr>
          <a:xfrm>
            <a:off x="4645152" y="4023359"/>
            <a:ext cx="274321" cy="274321"/>
          </a:xfrm>
          <a:prstGeom prst="ellipse">
            <a:avLst/>
          </a:prstGeom>
          <a:solidFill>
            <a:srgbClr val="16A34A"/>
          </a:solidFill>
          <a:ln w="12700">
            <a:solidFill>
              <a:srgbClr val="16A34A"/>
            </a:solidFill>
          </a:ln>
        </p:spPr>
        <p:txBody>
          <a:bodyPr lIns="45719" rIns="45719"/>
          <a:lstStyle/>
          <a:p>
            <a:endParaRPr/>
          </a:p>
        </p:txBody>
      </p:sp>
      <p:sp>
        <p:nvSpPr>
          <p:cNvPr id="425" name="Text 56"/>
          <p:cNvSpPr txBox="1"/>
          <p:nvPr/>
        </p:nvSpPr>
        <p:spPr>
          <a:xfrm>
            <a:off x="4645152" y="4091984"/>
            <a:ext cx="274321"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000" b="1">
                <a:solidFill>
                  <a:srgbClr val="0D1B4B"/>
                </a:solidFill>
              </a:defRPr>
            </a:lvl1pPr>
          </a:lstStyle>
          <a:p>
            <a:r>
              <a:t>7</a:t>
            </a:r>
          </a:p>
        </p:txBody>
      </p:sp>
      <p:sp>
        <p:nvSpPr>
          <p:cNvPr id="426" name="Text 57"/>
          <p:cNvSpPr txBox="1"/>
          <p:nvPr/>
        </p:nvSpPr>
        <p:spPr>
          <a:xfrm>
            <a:off x="4983479" y="4078731"/>
            <a:ext cx="162763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16A34A"/>
                </a:solidFill>
              </a:defRPr>
            </a:lvl1pPr>
          </a:lstStyle>
          <a:p>
            <a:r>
              <a:t>Run Container</a:t>
            </a:r>
          </a:p>
        </p:txBody>
      </p:sp>
      <p:sp>
        <p:nvSpPr>
          <p:cNvPr id="427" name="Text 58"/>
          <p:cNvSpPr txBox="1"/>
          <p:nvPr/>
        </p:nvSpPr>
        <p:spPr>
          <a:xfrm>
            <a:off x="4681728" y="4392203"/>
            <a:ext cx="1920241" cy="231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docker run -d -p 9090:8080 — app runs detached in the cloud</a:t>
            </a:r>
          </a:p>
        </p:txBody>
      </p:sp>
      <p:sp>
        <p:nvSpPr>
          <p:cNvPr id="428" name="Shape 59"/>
          <p:cNvSpPr/>
          <p:nvPr/>
        </p:nvSpPr>
        <p:spPr>
          <a:xfrm>
            <a:off x="6812280" y="3950208"/>
            <a:ext cx="2103121" cy="777241"/>
          </a:xfrm>
          <a:prstGeom prst="rect">
            <a:avLst/>
          </a:prstGeom>
          <a:solidFill>
            <a:srgbClr val="0F2557"/>
          </a:solidFill>
          <a:ln w="15240">
            <a:solidFill>
              <a:srgbClr val="16A34A"/>
            </a:solidFill>
          </a:ln>
          <a:effectLst>
            <a:outerShdw blurRad="101600" dist="38100" dir="8100000" rotWithShape="0">
              <a:srgbClr val="000000">
                <a:alpha val="18000"/>
              </a:srgbClr>
            </a:outerShdw>
          </a:effectLst>
        </p:spPr>
        <p:txBody>
          <a:bodyPr lIns="45719" rIns="45719"/>
          <a:lstStyle/>
          <a:p>
            <a:endParaRPr/>
          </a:p>
        </p:txBody>
      </p:sp>
      <p:sp>
        <p:nvSpPr>
          <p:cNvPr id="429" name="Shape 60"/>
          <p:cNvSpPr/>
          <p:nvPr/>
        </p:nvSpPr>
        <p:spPr>
          <a:xfrm>
            <a:off x="6885431" y="4023359"/>
            <a:ext cx="274321" cy="274321"/>
          </a:xfrm>
          <a:prstGeom prst="ellipse">
            <a:avLst/>
          </a:prstGeom>
          <a:solidFill>
            <a:srgbClr val="16A34A"/>
          </a:solidFill>
          <a:ln w="12700">
            <a:solidFill>
              <a:srgbClr val="16A34A"/>
            </a:solidFill>
          </a:ln>
        </p:spPr>
        <p:txBody>
          <a:bodyPr lIns="45719" rIns="45719"/>
          <a:lstStyle/>
          <a:p>
            <a:endParaRPr/>
          </a:p>
        </p:txBody>
      </p:sp>
      <p:sp>
        <p:nvSpPr>
          <p:cNvPr id="430" name="Text 61"/>
          <p:cNvSpPr txBox="1"/>
          <p:nvPr/>
        </p:nvSpPr>
        <p:spPr>
          <a:xfrm>
            <a:off x="6885431" y="4091984"/>
            <a:ext cx="274321"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000" b="1">
                <a:solidFill>
                  <a:srgbClr val="0D1B4B"/>
                </a:solidFill>
              </a:defRPr>
            </a:lvl1pPr>
          </a:lstStyle>
          <a:p>
            <a:r>
              <a:t>8</a:t>
            </a:r>
          </a:p>
        </p:txBody>
      </p:sp>
      <p:sp>
        <p:nvSpPr>
          <p:cNvPr id="431" name="Text 62"/>
          <p:cNvSpPr txBox="1"/>
          <p:nvPr/>
        </p:nvSpPr>
        <p:spPr>
          <a:xfrm>
            <a:off x="7223759" y="4078731"/>
            <a:ext cx="162763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16A34A"/>
                </a:solidFill>
              </a:defRPr>
            </a:lvl1pPr>
          </a:lstStyle>
          <a:p>
            <a:r>
              <a:t>Verify via Docker Logs</a:t>
            </a:r>
          </a:p>
        </p:txBody>
      </p:sp>
      <p:sp>
        <p:nvSpPr>
          <p:cNvPr id="432" name="Text 63"/>
          <p:cNvSpPr txBox="1"/>
          <p:nvPr/>
        </p:nvSpPr>
        <p:spPr>
          <a:xfrm>
            <a:off x="6922007" y="4392203"/>
            <a:ext cx="1920241" cy="231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docker logs confirms identical output to local run — deployment successful</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4B"/>
        </a:solidFill>
        <a:effectLst/>
      </p:bgPr>
    </p:bg>
    <p:spTree>
      <p:nvGrpSpPr>
        <p:cNvPr id="1" name=""/>
        <p:cNvGrpSpPr/>
        <p:nvPr/>
      </p:nvGrpSpPr>
      <p:grpSpPr>
        <a:xfrm>
          <a:off x="0" y="0"/>
          <a:ext cx="0" cy="0"/>
          <a:chOff x="0" y="0"/>
          <a:chExt cx="0" cy="0"/>
        </a:xfrm>
      </p:grpSpPr>
      <p:sp>
        <p:nvSpPr>
          <p:cNvPr id="488" name="Shape 0"/>
          <p:cNvSpPr/>
          <p:nvPr/>
        </p:nvSpPr>
        <p:spPr>
          <a:xfrm>
            <a:off x="0" y="-1"/>
            <a:ext cx="9144000" cy="91442"/>
          </a:xfrm>
          <a:prstGeom prst="rect">
            <a:avLst/>
          </a:prstGeom>
          <a:solidFill>
            <a:srgbClr val="4FC3F7"/>
          </a:solidFill>
          <a:ln w="12700">
            <a:solidFill>
              <a:srgbClr val="4FC3F7"/>
            </a:solidFill>
          </a:ln>
        </p:spPr>
        <p:txBody>
          <a:bodyPr lIns="45719" rIns="45719"/>
          <a:lstStyle/>
          <a:p>
            <a:endParaRPr/>
          </a:p>
        </p:txBody>
      </p:sp>
      <p:sp>
        <p:nvSpPr>
          <p:cNvPr id="489" name="Text 1"/>
          <p:cNvSpPr txBox="1"/>
          <p:nvPr/>
        </p:nvSpPr>
        <p:spPr>
          <a:xfrm>
            <a:off x="457200" y="253109"/>
            <a:ext cx="8229600" cy="3533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800" b="1">
                <a:solidFill>
                  <a:srgbClr val="FFFFFF"/>
                </a:solidFill>
              </a:defRPr>
            </a:lvl1pPr>
          </a:lstStyle>
          <a:p>
            <a:r>
              <a:t>Project Summary</a:t>
            </a:r>
          </a:p>
        </p:txBody>
      </p:sp>
      <p:sp>
        <p:nvSpPr>
          <p:cNvPr id="490" name="Text 2"/>
          <p:cNvSpPr txBox="1"/>
          <p:nvPr/>
        </p:nvSpPr>
        <p:spPr>
          <a:xfrm>
            <a:off x="457200" y="746682"/>
            <a:ext cx="8229600"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i="1">
                <a:solidFill>
                  <a:srgbClr val="4FC3F7"/>
                </a:solidFill>
              </a:defRPr>
            </a:lvl1pPr>
          </a:lstStyle>
          <a:p>
            <a:r>
              <a:t>Customer Management System</a:t>
            </a:r>
          </a:p>
        </p:txBody>
      </p:sp>
      <p:sp>
        <p:nvSpPr>
          <p:cNvPr id="491" name="Shape 3"/>
          <p:cNvSpPr/>
          <p:nvPr/>
        </p:nvSpPr>
        <p:spPr>
          <a:xfrm>
            <a:off x="228600" y="1078991"/>
            <a:ext cx="2834640" cy="1188721"/>
          </a:xfrm>
          <a:prstGeom prst="rect">
            <a:avLst/>
          </a:prstGeom>
          <a:solidFill>
            <a:srgbClr val="0F2557"/>
          </a:solidFill>
          <a:ln w="15240">
            <a:solidFill>
              <a:srgbClr val="4FC3F7"/>
            </a:solidFill>
          </a:ln>
          <a:effectLst>
            <a:outerShdw blurRad="101600" dist="38100" dir="8100000" rotWithShape="0">
              <a:srgbClr val="000000">
                <a:alpha val="18000"/>
              </a:srgbClr>
            </a:outerShdw>
          </a:effectLst>
        </p:spPr>
        <p:txBody>
          <a:bodyPr lIns="45719" rIns="45719"/>
          <a:lstStyle/>
          <a:p>
            <a:endParaRPr/>
          </a:p>
        </p:txBody>
      </p:sp>
      <p:sp>
        <p:nvSpPr>
          <p:cNvPr id="492" name="Shape 4"/>
          <p:cNvSpPr/>
          <p:nvPr/>
        </p:nvSpPr>
        <p:spPr>
          <a:xfrm>
            <a:off x="228599" y="1078991"/>
            <a:ext cx="502921" cy="329185"/>
          </a:xfrm>
          <a:prstGeom prst="rect">
            <a:avLst/>
          </a:prstGeom>
          <a:solidFill>
            <a:srgbClr val="4FC3F7"/>
          </a:solidFill>
          <a:ln w="12700">
            <a:solidFill>
              <a:srgbClr val="4FC3F7"/>
            </a:solidFill>
          </a:ln>
        </p:spPr>
        <p:txBody>
          <a:bodyPr lIns="45719" rIns="45719"/>
          <a:lstStyle/>
          <a:p>
            <a:endParaRPr/>
          </a:p>
        </p:txBody>
      </p:sp>
      <p:sp>
        <p:nvSpPr>
          <p:cNvPr id="493" name="Text 5"/>
          <p:cNvSpPr txBox="1"/>
          <p:nvPr/>
        </p:nvSpPr>
        <p:spPr>
          <a:xfrm>
            <a:off x="228599" y="1160203"/>
            <a:ext cx="502921" cy="1667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a:solidFill>
                  <a:srgbClr val="0D1B4B"/>
                </a:solidFill>
              </a:defRPr>
            </a:lvl1pPr>
          </a:lstStyle>
          <a:p>
            <a:r>
              <a:t>1</a:t>
            </a:r>
          </a:p>
        </p:txBody>
      </p:sp>
      <p:sp>
        <p:nvSpPr>
          <p:cNvPr id="494" name="Text 8"/>
          <p:cNvSpPr txBox="1"/>
          <p:nvPr/>
        </p:nvSpPr>
        <p:spPr>
          <a:xfrm>
            <a:off x="795527" y="1175048"/>
            <a:ext cx="1508762" cy="1370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FFFFFF"/>
                </a:solidFill>
              </a:defRPr>
            </a:lvl1pPr>
          </a:lstStyle>
          <a:p>
            <a:r>
              <a:t>Java Prototype</a:t>
            </a:r>
          </a:p>
        </p:txBody>
      </p:sp>
      <p:sp>
        <p:nvSpPr>
          <p:cNvPr id="495" name="Text 9"/>
          <p:cNvSpPr txBox="1"/>
          <p:nvPr/>
        </p:nvSpPr>
        <p:spPr>
          <a:xfrm>
            <a:off x="320039" y="1471930"/>
            <a:ext cx="2651762" cy="165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4FC3F7"/>
                </a:solidFill>
              </a:defRPr>
            </a:lvl1pPr>
          </a:lstStyle>
          <a:p>
            <a:r>
              <a:t>🔧 Java + NetBeans</a:t>
            </a:r>
          </a:p>
        </p:txBody>
      </p:sp>
      <p:sp>
        <p:nvSpPr>
          <p:cNvPr id="496" name="Text 10"/>
          <p:cNvSpPr txBox="1"/>
          <p:nvPr/>
        </p:nvSpPr>
        <p:spPr>
          <a:xfrm>
            <a:off x="320039" y="1865883"/>
            <a:ext cx="26517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 OOP maps directly to UML class diagram</a:t>
            </a:r>
          </a:p>
        </p:txBody>
      </p:sp>
      <p:sp>
        <p:nvSpPr>
          <p:cNvPr id="497" name="Shape 11"/>
          <p:cNvSpPr/>
          <p:nvPr/>
        </p:nvSpPr>
        <p:spPr>
          <a:xfrm>
            <a:off x="3200400" y="1078991"/>
            <a:ext cx="2834640" cy="1188721"/>
          </a:xfrm>
          <a:prstGeom prst="rect">
            <a:avLst/>
          </a:prstGeom>
          <a:solidFill>
            <a:srgbClr val="0F2557"/>
          </a:solidFill>
          <a:ln w="15240">
            <a:solidFill>
              <a:srgbClr val="4FC3F7"/>
            </a:solidFill>
          </a:ln>
          <a:effectLst>
            <a:outerShdw blurRad="101600" dist="38100" dir="8100000" rotWithShape="0">
              <a:srgbClr val="000000">
                <a:alpha val="18000"/>
              </a:srgbClr>
            </a:outerShdw>
          </a:effectLst>
        </p:spPr>
        <p:txBody>
          <a:bodyPr lIns="45719" rIns="45719"/>
          <a:lstStyle/>
          <a:p>
            <a:endParaRPr/>
          </a:p>
        </p:txBody>
      </p:sp>
      <p:sp>
        <p:nvSpPr>
          <p:cNvPr id="498" name="Shape 12"/>
          <p:cNvSpPr/>
          <p:nvPr/>
        </p:nvSpPr>
        <p:spPr>
          <a:xfrm>
            <a:off x="3200399" y="1078991"/>
            <a:ext cx="502921" cy="329185"/>
          </a:xfrm>
          <a:prstGeom prst="rect">
            <a:avLst/>
          </a:prstGeom>
          <a:solidFill>
            <a:srgbClr val="4FC3F7"/>
          </a:solidFill>
          <a:ln w="12700">
            <a:solidFill>
              <a:srgbClr val="4FC3F7"/>
            </a:solidFill>
          </a:ln>
        </p:spPr>
        <p:txBody>
          <a:bodyPr lIns="45719" rIns="45719"/>
          <a:lstStyle/>
          <a:p>
            <a:endParaRPr/>
          </a:p>
        </p:txBody>
      </p:sp>
      <p:sp>
        <p:nvSpPr>
          <p:cNvPr id="499" name="Text 13"/>
          <p:cNvSpPr txBox="1"/>
          <p:nvPr/>
        </p:nvSpPr>
        <p:spPr>
          <a:xfrm>
            <a:off x="3200399" y="1160203"/>
            <a:ext cx="502921" cy="1667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a:solidFill>
                  <a:srgbClr val="0D1B4B"/>
                </a:solidFill>
              </a:defRPr>
            </a:lvl1pPr>
          </a:lstStyle>
          <a:p>
            <a:r>
              <a:t>2</a:t>
            </a:r>
          </a:p>
        </p:txBody>
      </p:sp>
      <p:sp>
        <p:nvSpPr>
          <p:cNvPr id="500" name="Text 16"/>
          <p:cNvSpPr txBox="1"/>
          <p:nvPr/>
        </p:nvSpPr>
        <p:spPr>
          <a:xfrm>
            <a:off x="3767328" y="1175048"/>
            <a:ext cx="1508761" cy="1370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FFFFFF"/>
                </a:solidFill>
              </a:defRPr>
            </a:lvl1pPr>
          </a:lstStyle>
          <a:p>
            <a:r>
              <a:t>Version Control</a:t>
            </a:r>
          </a:p>
        </p:txBody>
      </p:sp>
      <p:sp>
        <p:nvSpPr>
          <p:cNvPr id="501" name="Text 17"/>
          <p:cNvSpPr txBox="1"/>
          <p:nvPr/>
        </p:nvSpPr>
        <p:spPr>
          <a:xfrm>
            <a:off x="3291840" y="1471930"/>
            <a:ext cx="2651761" cy="165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4FC3F7"/>
                </a:solidFill>
              </a:defRPr>
            </a:lvl1pPr>
          </a:lstStyle>
          <a:p>
            <a:r>
              <a:t>🔧 Git + GitHub</a:t>
            </a:r>
          </a:p>
        </p:txBody>
      </p:sp>
      <p:sp>
        <p:nvSpPr>
          <p:cNvPr id="502" name="Text 18"/>
          <p:cNvSpPr txBox="1"/>
          <p:nvPr/>
        </p:nvSpPr>
        <p:spPr>
          <a:xfrm>
            <a:off x="3291840" y="1865883"/>
            <a:ext cx="26517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 Team branching, PR reviews, semantic tags</a:t>
            </a:r>
          </a:p>
        </p:txBody>
      </p:sp>
      <p:sp>
        <p:nvSpPr>
          <p:cNvPr id="503" name="Shape 19"/>
          <p:cNvSpPr/>
          <p:nvPr/>
        </p:nvSpPr>
        <p:spPr>
          <a:xfrm>
            <a:off x="6172200" y="1078991"/>
            <a:ext cx="2834640" cy="1188721"/>
          </a:xfrm>
          <a:prstGeom prst="rect">
            <a:avLst/>
          </a:prstGeom>
          <a:solidFill>
            <a:srgbClr val="0F2557"/>
          </a:solidFill>
          <a:ln w="15240">
            <a:solidFill>
              <a:srgbClr val="4FC3F7"/>
            </a:solidFill>
          </a:ln>
          <a:effectLst>
            <a:outerShdw blurRad="101600" dist="38100" dir="8100000" rotWithShape="0">
              <a:srgbClr val="000000">
                <a:alpha val="18000"/>
              </a:srgbClr>
            </a:outerShdw>
          </a:effectLst>
        </p:spPr>
        <p:txBody>
          <a:bodyPr lIns="45719" rIns="45719"/>
          <a:lstStyle/>
          <a:p>
            <a:endParaRPr/>
          </a:p>
        </p:txBody>
      </p:sp>
      <p:sp>
        <p:nvSpPr>
          <p:cNvPr id="504" name="Shape 20"/>
          <p:cNvSpPr/>
          <p:nvPr/>
        </p:nvSpPr>
        <p:spPr>
          <a:xfrm>
            <a:off x="6172199" y="1078991"/>
            <a:ext cx="502921" cy="329185"/>
          </a:xfrm>
          <a:prstGeom prst="rect">
            <a:avLst/>
          </a:prstGeom>
          <a:solidFill>
            <a:srgbClr val="4FC3F7"/>
          </a:solidFill>
          <a:ln w="12700">
            <a:solidFill>
              <a:srgbClr val="4FC3F7"/>
            </a:solidFill>
          </a:ln>
        </p:spPr>
        <p:txBody>
          <a:bodyPr lIns="45719" rIns="45719"/>
          <a:lstStyle/>
          <a:p>
            <a:endParaRPr/>
          </a:p>
        </p:txBody>
      </p:sp>
      <p:sp>
        <p:nvSpPr>
          <p:cNvPr id="505" name="Text 21"/>
          <p:cNvSpPr txBox="1"/>
          <p:nvPr/>
        </p:nvSpPr>
        <p:spPr>
          <a:xfrm>
            <a:off x="6172199" y="1160203"/>
            <a:ext cx="502921" cy="1667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a:solidFill>
                  <a:srgbClr val="0D1B4B"/>
                </a:solidFill>
              </a:defRPr>
            </a:lvl1pPr>
          </a:lstStyle>
          <a:p>
            <a:r>
              <a:t>3</a:t>
            </a:r>
          </a:p>
        </p:txBody>
      </p:sp>
      <p:sp>
        <p:nvSpPr>
          <p:cNvPr id="506" name="Text 24"/>
          <p:cNvSpPr txBox="1"/>
          <p:nvPr/>
        </p:nvSpPr>
        <p:spPr>
          <a:xfrm>
            <a:off x="6739128" y="1175048"/>
            <a:ext cx="1508761" cy="1370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FFFFFF"/>
                </a:solidFill>
              </a:defRPr>
            </a:lvl1pPr>
          </a:lstStyle>
          <a:p>
            <a:r>
              <a:t>Build Automation</a:t>
            </a:r>
          </a:p>
        </p:txBody>
      </p:sp>
      <p:sp>
        <p:nvSpPr>
          <p:cNvPr id="507" name="Text 25"/>
          <p:cNvSpPr txBox="1"/>
          <p:nvPr/>
        </p:nvSpPr>
        <p:spPr>
          <a:xfrm>
            <a:off x="6263640" y="1471930"/>
            <a:ext cx="2651761" cy="165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4FC3F7"/>
                </a:solidFill>
              </a:defRPr>
            </a:lvl1pPr>
          </a:lstStyle>
          <a:p>
            <a:r>
              <a:t>🔧 Maven + Jenkins</a:t>
            </a:r>
          </a:p>
        </p:txBody>
      </p:sp>
      <p:sp>
        <p:nvSpPr>
          <p:cNvPr id="508" name="Text 26"/>
          <p:cNvSpPr txBox="1"/>
          <p:nvPr/>
        </p:nvSpPr>
        <p:spPr>
          <a:xfrm>
            <a:off x="6263640" y="1865883"/>
            <a:ext cx="26517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 Reproducible builds + automated CI/CD</a:t>
            </a:r>
          </a:p>
        </p:txBody>
      </p:sp>
      <p:sp>
        <p:nvSpPr>
          <p:cNvPr id="509" name="Shape 27"/>
          <p:cNvSpPr/>
          <p:nvPr/>
        </p:nvSpPr>
        <p:spPr>
          <a:xfrm>
            <a:off x="228600" y="2404872"/>
            <a:ext cx="2834640" cy="1188720"/>
          </a:xfrm>
          <a:prstGeom prst="rect">
            <a:avLst/>
          </a:prstGeom>
          <a:solidFill>
            <a:srgbClr val="0F2557"/>
          </a:solidFill>
          <a:ln w="15240">
            <a:solidFill>
              <a:srgbClr val="4FC3F7"/>
            </a:solidFill>
          </a:ln>
          <a:effectLst>
            <a:outerShdw blurRad="101600" dist="38100" dir="8100000" rotWithShape="0">
              <a:srgbClr val="000000">
                <a:alpha val="18000"/>
              </a:srgbClr>
            </a:outerShdw>
          </a:effectLst>
        </p:spPr>
        <p:txBody>
          <a:bodyPr lIns="45719" rIns="45719"/>
          <a:lstStyle/>
          <a:p>
            <a:endParaRPr/>
          </a:p>
        </p:txBody>
      </p:sp>
      <p:sp>
        <p:nvSpPr>
          <p:cNvPr id="510" name="Shape 28"/>
          <p:cNvSpPr/>
          <p:nvPr/>
        </p:nvSpPr>
        <p:spPr>
          <a:xfrm>
            <a:off x="228599" y="2404872"/>
            <a:ext cx="502921" cy="329185"/>
          </a:xfrm>
          <a:prstGeom prst="rect">
            <a:avLst/>
          </a:prstGeom>
          <a:solidFill>
            <a:srgbClr val="4FC3F7"/>
          </a:solidFill>
          <a:ln w="12700">
            <a:solidFill>
              <a:srgbClr val="4FC3F7"/>
            </a:solidFill>
          </a:ln>
        </p:spPr>
        <p:txBody>
          <a:bodyPr lIns="45719" rIns="45719"/>
          <a:lstStyle/>
          <a:p>
            <a:endParaRPr/>
          </a:p>
        </p:txBody>
      </p:sp>
      <p:sp>
        <p:nvSpPr>
          <p:cNvPr id="511" name="Text 29"/>
          <p:cNvSpPr txBox="1"/>
          <p:nvPr/>
        </p:nvSpPr>
        <p:spPr>
          <a:xfrm>
            <a:off x="228599" y="2486083"/>
            <a:ext cx="502921" cy="1667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a:solidFill>
                  <a:srgbClr val="0D1B4B"/>
                </a:solidFill>
              </a:defRPr>
            </a:lvl1pPr>
          </a:lstStyle>
          <a:p>
            <a:r>
              <a:t>4</a:t>
            </a:r>
          </a:p>
        </p:txBody>
      </p:sp>
      <p:sp>
        <p:nvSpPr>
          <p:cNvPr id="512" name="Text 32"/>
          <p:cNvSpPr txBox="1"/>
          <p:nvPr/>
        </p:nvSpPr>
        <p:spPr>
          <a:xfrm>
            <a:off x="795527" y="2500928"/>
            <a:ext cx="1508762" cy="1370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FFFFFF"/>
                </a:solidFill>
              </a:defRPr>
            </a:lvl1pPr>
          </a:lstStyle>
          <a:p>
            <a:r>
              <a:t>Unit Testing</a:t>
            </a:r>
          </a:p>
        </p:txBody>
      </p:sp>
      <p:sp>
        <p:nvSpPr>
          <p:cNvPr id="513" name="Text 33"/>
          <p:cNvSpPr txBox="1"/>
          <p:nvPr/>
        </p:nvSpPr>
        <p:spPr>
          <a:xfrm>
            <a:off x="320039" y="2797810"/>
            <a:ext cx="2651762" cy="165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4FC3F7"/>
                </a:solidFill>
              </a:defRPr>
            </a:lvl1pPr>
          </a:lstStyle>
          <a:p>
            <a:r>
              <a:t>🔧 JUnit 5</a:t>
            </a:r>
          </a:p>
        </p:txBody>
      </p:sp>
      <p:sp>
        <p:nvSpPr>
          <p:cNvPr id="514" name="Text 34"/>
          <p:cNvSpPr txBox="1"/>
          <p:nvPr/>
        </p:nvSpPr>
        <p:spPr>
          <a:xfrm>
            <a:off x="320039" y="3191764"/>
            <a:ext cx="26517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 10 tests gate every pipeline run</a:t>
            </a:r>
          </a:p>
        </p:txBody>
      </p:sp>
      <p:sp>
        <p:nvSpPr>
          <p:cNvPr id="515" name="Shape 35"/>
          <p:cNvSpPr/>
          <p:nvPr/>
        </p:nvSpPr>
        <p:spPr>
          <a:xfrm>
            <a:off x="3200400" y="2404872"/>
            <a:ext cx="2834640" cy="1188720"/>
          </a:xfrm>
          <a:prstGeom prst="rect">
            <a:avLst/>
          </a:prstGeom>
          <a:solidFill>
            <a:srgbClr val="0F2557"/>
          </a:solidFill>
          <a:ln w="15240">
            <a:solidFill>
              <a:srgbClr val="4FC3F7"/>
            </a:solidFill>
          </a:ln>
          <a:effectLst>
            <a:outerShdw blurRad="101600" dist="38100" dir="8100000" rotWithShape="0">
              <a:srgbClr val="000000">
                <a:alpha val="18000"/>
              </a:srgbClr>
            </a:outerShdw>
          </a:effectLst>
        </p:spPr>
        <p:txBody>
          <a:bodyPr lIns="45719" rIns="45719"/>
          <a:lstStyle/>
          <a:p>
            <a:endParaRPr/>
          </a:p>
        </p:txBody>
      </p:sp>
      <p:sp>
        <p:nvSpPr>
          <p:cNvPr id="516" name="Shape 36"/>
          <p:cNvSpPr/>
          <p:nvPr/>
        </p:nvSpPr>
        <p:spPr>
          <a:xfrm>
            <a:off x="3200399" y="2404872"/>
            <a:ext cx="502921" cy="329185"/>
          </a:xfrm>
          <a:prstGeom prst="rect">
            <a:avLst/>
          </a:prstGeom>
          <a:solidFill>
            <a:srgbClr val="4FC3F7"/>
          </a:solidFill>
          <a:ln w="12700">
            <a:solidFill>
              <a:srgbClr val="4FC3F7"/>
            </a:solidFill>
          </a:ln>
        </p:spPr>
        <p:txBody>
          <a:bodyPr lIns="45719" rIns="45719"/>
          <a:lstStyle/>
          <a:p>
            <a:endParaRPr/>
          </a:p>
        </p:txBody>
      </p:sp>
      <p:sp>
        <p:nvSpPr>
          <p:cNvPr id="517" name="Text 37"/>
          <p:cNvSpPr txBox="1"/>
          <p:nvPr/>
        </p:nvSpPr>
        <p:spPr>
          <a:xfrm>
            <a:off x="3200399" y="2486083"/>
            <a:ext cx="502921" cy="1667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a:solidFill>
                  <a:srgbClr val="0D1B4B"/>
                </a:solidFill>
              </a:defRPr>
            </a:lvl1pPr>
          </a:lstStyle>
          <a:p>
            <a:r>
              <a:t>5</a:t>
            </a:r>
          </a:p>
        </p:txBody>
      </p:sp>
      <p:sp>
        <p:nvSpPr>
          <p:cNvPr id="518" name="Text 40"/>
          <p:cNvSpPr txBox="1"/>
          <p:nvPr/>
        </p:nvSpPr>
        <p:spPr>
          <a:xfrm>
            <a:off x="3767328" y="2500928"/>
            <a:ext cx="1508761" cy="1370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FFFFFF"/>
                </a:solidFill>
              </a:defRPr>
            </a:lvl1pPr>
          </a:lstStyle>
          <a:p>
            <a:r>
              <a:t>Containerisation</a:t>
            </a:r>
          </a:p>
        </p:txBody>
      </p:sp>
      <p:sp>
        <p:nvSpPr>
          <p:cNvPr id="519" name="Text 41"/>
          <p:cNvSpPr txBox="1"/>
          <p:nvPr/>
        </p:nvSpPr>
        <p:spPr>
          <a:xfrm>
            <a:off x="3291840" y="2797810"/>
            <a:ext cx="2651761" cy="165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b="1">
                <a:solidFill>
                  <a:srgbClr val="4FC3F7"/>
                </a:solidFill>
              </a:defRPr>
            </a:lvl1pPr>
          </a:lstStyle>
          <a:p>
            <a:r>
              <a:t>🔧 Docker + AWS EC2</a:t>
            </a:r>
          </a:p>
        </p:txBody>
      </p:sp>
      <p:sp>
        <p:nvSpPr>
          <p:cNvPr id="520" name="Text 42"/>
          <p:cNvSpPr txBox="1"/>
          <p:nvPr/>
        </p:nvSpPr>
        <p:spPr>
          <a:xfrm>
            <a:off x="3291840" y="3191764"/>
            <a:ext cx="265176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a:solidFill>
                  <a:srgbClr val="CADCFC"/>
                </a:solidFill>
              </a:defRPr>
            </a:lvl1pPr>
          </a:lstStyle>
          <a:p>
            <a:r>
              <a:t>→ Portable image deployed live on cloud VM</a:t>
            </a:r>
          </a:p>
        </p:txBody>
      </p:sp>
      <p:sp>
        <p:nvSpPr>
          <p:cNvPr id="523" name="Text 45"/>
          <p:cNvSpPr txBox="1"/>
          <p:nvPr/>
        </p:nvSpPr>
        <p:spPr>
          <a:xfrm>
            <a:off x="6172199" y="2486083"/>
            <a:ext cx="502921" cy="1667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a:solidFill>
                  <a:srgbClr val="0D1B4B"/>
                </a:solidFill>
              </a:defRPr>
            </a:lvl1pPr>
          </a:lstStyle>
          <a:p>
            <a:r>
              <a:t>6</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1774</Words>
  <Application>Microsoft Office PowerPoint</Application>
  <PresentationFormat>On-screen Show (16:9)</PresentationFormat>
  <Paragraphs>289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LAVANYA SINGH</dc:creator>
  <cp:lastModifiedBy>LAVANYA SINGH</cp:lastModifiedBy>
  <cp:revision>1</cp:revision>
  <dcterms:modified xsi:type="dcterms:W3CDTF">2026-04-09T07:19:53Z</dcterms:modified>
</cp:coreProperties>
</file>